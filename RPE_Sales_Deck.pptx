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3"/>
  </p:notesMasterIdLst>
  <p:handoutMasterIdLst>
    <p:handoutMasterId r:id="rId24"/>
  </p:handout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11"/>
    <p:sldId id="26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43" userDrawn="1">
          <p15:clr>
            <a:srgbClr val="A4A3A4"/>
          </p15:clr>
        </p15:guide>
        <p15:guide id="2" orient="horz" pos="2616" userDrawn="1">
          <p15:clr>
            <a:srgbClr val="A4A3A4"/>
          </p15:clr>
        </p15:guide>
        <p15:guide id="3" pos="3840">
          <p15:clr>
            <a:srgbClr val="A4A3A4"/>
          </p15:clr>
        </p15:guide>
        <p15:guide id="4" orient="horz" pos="9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971D"/>
    <a:srgbClr val="00274C"/>
    <a:srgbClr val="EB2A2E"/>
    <a:srgbClr val="F15D22"/>
    <a:srgbClr val="10284B"/>
    <a:srgbClr val="EFEFEF"/>
    <a:srgbClr val="43BCB4"/>
    <a:srgbClr val="148DD9"/>
    <a:srgbClr val="6EE88F"/>
    <a:srgbClr val="00B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2" d="100"/>
          <a:sy n="122" d="100"/>
        </p:scale>
        <p:origin x="114" y="18"/>
      </p:cViewPr>
      <p:guideLst>
        <p:guide orient="horz" pos="4143"/>
        <p:guide orient="horz" pos="2616"/>
        <p:guide pos="3840"/>
        <p:guide orient="horz" pos="90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0" Type="http://schemas.openxmlformats.org/officeDocument/2006/relationships/slide" Target="slides/slide13.xml"/><Relationship Id="rId11" Type="http://schemas.openxmlformats.org/officeDocument/2006/relationships/slide" Target="slides/slide12.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L. Gilmore" userId="3d60d20b-672a-4f5d-b5e0-b3454f3fe04c" providerId="ADAL" clId="{AF697304-D9BA-40BA-9B09-E0738E6CEC26}"/>
    <pc:docChg chg="custSel modSld">
      <pc:chgData name="James L. Gilmore" userId="3d60d20b-672a-4f5d-b5e0-b3454f3fe04c" providerId="ADAL" clId="{AF697304-D9BA-40BA-9B09-E0738E6CEC26}" dt="2026-03-01T10:45:27.871" v="0" actId="478"/>
      <pc:docMkLst>
        <pc:docMk/>
      </pc:docMkLst>
      <pc:sldChg chg="addSp delSp modSp mod">
        <pc:chgData name="James L. Gilmore" userId="3d60d20b-672a-4f5d-b5e0-b3454f3fe04c" providerId="ADAL" clId="{AF697304-D9BA-40BA-9B09-E0738E6CEC26}" dt="2026-03-01T10:45:27.871" v="0" actId="478"/>
        <pc:sldMkLst>
          <pc:docMk/>
          <pc:sldMk cId="619194086" sldId="258"/>
        </pc:sldMkLst>
        <pc:spChg chg="del">
          <ac:chgData name="James L. Gilmore" userId="3d60d20b-672a-4f5d-b5e0-b3454f3fe04c" providerId="ADAL" clId="{AF697304-D9BA-40BA-9B09-E0738E6CEC26}" dt="2026-03-01T10:45:27.871" v="0" actId="478"/>
          <ac:spMkLst>
            <pc:docMk/>
            <pc:sldMk cId="619194086" sldId="258"/>
            <ac:spMk id="2" creationId="{BED5E5D6-586C-BD7E-62CC-3F7A0E8AC40F}"/>
          </ac:spMkLst>
        </pc:spChg>
        <pc:spChg chg="add mod">
          <ac:chgData name="James L. Gilmore" userId="3d60d20b-672a-4f5d-b5e0-b3454f3fe04c" providerId="ADAL" clId="{AF697304-D9BA-40BA-9B09-E0738E6CEC26}" dt="2026-03-01T10:45:27.871" v="0" actId="478"/>
          <ac:spMkLst>
            <pc:docMk/>
            <pc:sldMk cId="619194086" sldId="258"/>
            <ac:spMk id="5" creationId="{19FE3266-BEF1-10DA-8F12-622D82F0D88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AD5D29-FFD8-71E4-3CA2-63A441197E8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3F6FB9D-BD31-C754-6135-817C6B03F19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D6AA5BE-D582-8A4A-8BD3-1195F697F428}" type="datetimeFigureOut">
              <a:rPr lang="en-US" smtClean="0"/>
              <a:t>3/1/2026</a:t>
            </a:fld>
            <a:endParaRPr lang="en-US"/>
          </a:p>
        </p:txBody>
      </p:sp>
      <p:sp>
        <p:nvSpPr>
          <p:cNvPr id="4" name="Footer Placeholder 3">
            <a:extLst>
              <a:ext uri="{FF2B5EF4-FFF2-40B4-BE49-F238E27FC236}">
                <a16:creationId xmlns:a16="http://schemas.microsoft.com/office/drawing/2014/main" id="{86A48ADE-B854-FEF3-939B-E2E9EE03B42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05A3305-86ED-A6F2-BA33-D6D065B437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34E34F3-0C6F-4C4A-8222-485A8FE84BEF}" type="slidenum">
              <a:rPr lang="en-US" smtClean="0"/>
              <a:t>‹#›</a:t>
            </a:fld>
            <a:endParaRPr lang="en-US"/>
          </a:p>
        </p:txBody>
      </p:sp>
    </p:spTree>
    <p:extLst>
      <p:ext uri="{BB962C8B-B14F-4D97-AF65-F5344CB8AC3E}">
        <p14:creationId xmlns:p14="http://schemas.microsoft.com/office/powerpoint/2010/main" val="41498640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01462A-D6E8-7F45-AB1E-8353870150FA}" type="datetimeFigureOut">
              <a:rPr lang="en-US" smtClean="0"/>
              <a:t>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371449-FC1B-8940-9159-2DB07A69957B}" type="slidenum">
              <a:rPr lang="en-US" smtClean="0"/>
              <a:t>‹#›</a:t>
            </a:fld>
            <a:endParaRPr lang="en-US"/>
          </a:p>
        </p:txBody>
      </p:sp>
    </p:spTree>
    <p:extLst>
      <p:ext uri="{BB962C8B-B14F-4D97-AF65-F5344CB8AC3E}">
        <p14:creationId xmlns:p14="http://schemas.microsoft.com/office/powerpoint/2010/main" val="3593570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we're introducing the Retail Performance Engine -- a complete platform that gives credit unions intelligence and results at every stage of the debit card member lifecycle. Four products, one platform.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a question. Your members go through 4 stages with their debit card -- from getting the card, to using early services, to swiping regularly, to premium engagement. How many of those stages can you actually see and measure?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what's at stake. These are industry benchmarks showing the cost of blind spots at each lifecycle stage. Whether it's dormant new accounts, low service adoption, competitor card leakage, or missed premium revenue -- every gap costs your credit union real dollars.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RPE solves this with four connected products. ICS handles acquisition intelligence. Account Engagement tracks service adoption in the critical first 90 days. ARS manages ongoing card usage and campaign intelligence. And MRPC delivers premium engagement with recurring fee revenue. Each product hands off to the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ICS -- Instant Card Solutions -- tracks where your new debit card accounts are coming from. Branch referrals, direct mail, digital channels. You see which sources actually produce active cardholders, not just accounts on paper.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Account Engagement monitors the critical first 90 days. Members who adopt 3 or more services early -- eStatements, online banking, direct deposit -- are far more likely to stay long-term. This product flags who's engaging and who's drifting.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ARS puts every member on a swipe ladder. From non-users through threshold 25. We track exactly where they are and which direction they're moving. Targeted mailer campaigns move members UP to the next tier. Early detection catches members moving DOWN before they go dormant.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something unique. We analyze 38 competitive patterns across 6 categories. Big national banks, regional banks, other credit unions, digital neobanks, wallets and P2P, and buy-now-pay-later. Local AND national. You see exactly which competitors are capturing your members' spend, in which categories.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Debit card transactions reveal more than spending habits -- they reveal your members' entire financial lives. When a member makes payments to an auto lender, a mortgage company, or a brokerage, RPE captures it. That's cross-sell intelligence you can't get anywhere else.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MRPC is our premium debit card product. It's a card with bundled services and a monthly fee that generates significantly more revenue per account. The data speaks for itself -- MRPC cardholders generate more recurring fee income plus higher card usage.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complete picture. Every lifecycle stage is now measurable and actionable. ICS tells you where accounts come from. Engagement shows who's adopting services. ARS tracks spending and campaign ROI. MRPC delivers premium revenue. One platform, complete visibility.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not just talking about potential. Over 300 credit unions already use RPE to manage their debit card lifecycle. They're seeing real results at every stage.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We'd love to show you what RPE can do for your credit union. Stop by our booth or scan the QR code to schedule a demo.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856B063-4C0A-D42C-2135-9B3F90F4A444}"/>
              </a:ext>
            </a:extLst>
          </p:cNvPr>
          <p:cNvSpPr>
            <a:spLocks noGrp="1"/>
          </p:cNvSpPr>
          <p:nvPr>
            <p:ph type="ctrTitle" hasCustomPrompt="1"/>
          </p:nvPr>
        </p:nvSpPr>
        <p:spPr>
          <a:xfrm>
            <a:off x="1263450" y="1122363"/>
            <a:ext cx="10128449" cy="2387600"/>
          </a:xfrm>
        </p:spPr>
        <p:txBody>
          <a:bodyPr anchor="t">
            <a:noAutofit/>
          </a:bodyPr>
          <a:lstStyle>
            <a:lvl1pPr algn="l">
              <a:lnSpc>
                <a:spcPts val="8500"/>
              </a:lnSpc>
              <a:defRPr sz="8800" spc="-150">
                <a:solidFill>
                  <a:schemeClr val="tx2"/>
                </a:solidFill>
              </a:defRPr>
            </a:lvl1pPr>
          </a:lstStyle>
          <a:p>
            <a:r>
              <a:rPr lang="en-US"/>
              <a:t>Click to Edit Master Title Style</a:t>
            </a:r>
          </a:p>
        </p:txBody>
      </p:sp>
      <p:sp>
        <p:nvSpPr>
          <p:cNvPr id="9" name="Subtitle 2">
            <a:extLst>
              <a:ext uri="{FF2B5EF4-FFF2-40B4-BE49-F238E27FC236}">
                <a16:creationId xmlns:a16="http://schemas.microsoft.com/office/drawing/2014/main" id="{A59686D6-9D03-672B-EF76-9A20C5A5472C}"/>
              </a:ext>
            </a:extLst>
          </p:cNvPr>
          <p:cNvSpPr>
            <a:spLocks noGrp="1"/>
          </p:cNvSpPr>
          <p:nvPr>
            <p:ph type="subTitle" idx="1" hasCustomPrompt="1"/>
          </p:nvPr>
        </p:nvSpPr>
        <p:spPr>
          <a:xfrm>
            <a:off x="1251876" y="3888641"/>
            <a:ext cx="9144000" cy="1655762"/>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1" name="Picture 10">
            <a:extLst>
              <a:ext uri="{FF2B5EF4-FFF2-40B4-BE49-F238E27FC236}">
                <a16:creationId xmlns:a16="http://schemas.microsoft.com/office/drawing/2014/main" id="{AA6F0B55-8EE1-FD19-DBEE-C845EE69910F}"/>
              </a:ext>
            </a:extLst>
          </p:cNvPr>
          <p:cNvPicPr>
            <a:picLocks noChangeAspect="1"/>
          </p:cNvPicPr>
          <p:nvPr userDrawn="1"/>
        </p:nvPicPr>
        <p:blipFill>
          <a:blip r:embed="rId2"/>
          <a:stretch>
            <a:fillRect/>
          </a:stretch>
        </p:blipFill>
        <p:spPr>
          <a:xfrm>
            <a:off x="11430686" y="3194050"/>
            <a:ext cx="254000" cy="469900"/>
          </a:xfrm>
          <a:prstGeom prst="rect">
            <a:avLst/>
          </a:prstGeom>
        </p:spPr>
      </p:pic>
      <p:pic>
        <p:nvPicPr>
          <p:cNvPr id="3" name="Picture 2">
            <a:extLst>
              <a:ext uri="{FF2B5EF4-FFF2-40B4-BE49-F238E27FC236}">
                <a16:creationId xmlns:a16="http://schemas.microsoft.com/office/drawing/2014/main" id="{F4450A05-2A0A-047B-0D02-A00B312221A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
        <p:nvSpPr>
          <p:cNvPr id="10" name="Rectangle 9">
            <a:extLst>
              <a:ext uri="{FF2B5EF4-FFF2-40B4-BE49-F238E27FC236}">
                <a16:creationId xmlns:a16="http://schemas.microsoft.com/office/drawing/2014/main" id="{37459893-C4AC-D2BB-367B-984D16CFDD71}"/>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85486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4147" userDrawn="1">
          <p15:clr>
            <a:srgbClr val="FBAE40"/>
          </p15:clr>
        </p15:guide>
        <p15:guide id="5" pos="3981" userDrawn="1">
          <p15:clr>
            <a:srgbClr val="FBAE40"/>
          </p15:clr>
        </p15:guide>
        <p15:guide id="6" orient="horz" pos="1212" userDrawn="1">
          <p15:clr>
            <a:srgbClr val="FBAE40"/>
          </p15:clr>
        </p15:guide>
        <p15:guide id="7" orient="horz" pos="261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_Revers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1B05F-027C-3F55-54CD-69C6DDB46B0A}"/>
              </a:ext>
            </a:extLst>
          </p:cNvPr>
          <p:cNvSpPr>
            <a:spLocks noGrp="1"/>
          </p:cNvSpPr>
          <p:nvPr>
            <p:ph type="ctrTitle" hasCustomPrompt="1"/>
          </p:nvPr>
        </p:nvSpPr>
        <p:spPr>
          <a:xfrm>
            <a:off x="1189059" y="1122363"/>
            <a:ext cx="10537804" cy="2387600"/>
          </a:xfrm>
        </p:spPr>
        <p:txBody>
          <a:bodyPr anchor="t">
            <a:noAutofit/>
          </a:bodyPr>
          <a:lstStyle>
            <a:lvl1pPr algn="l">
              <a:lnSpc>
                <a:spcPts val="8500"/>
              </a:lnSpc>
              <a:defRPr sz="8800" spc="-15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78D283AD-6372-B546-4F85-318DE6EEDCAF}"/>
              </a:ext>
            </a:extLst>
          </p:cNvPr>
          <p:cNvSpPr>
            <a:spLocks noGrp="1"/>
          </p:cNvSpPr>
          <p:nvPr>
            <p:ph type="subTitle" idx="1" hasCustomPrompt="1"/>
          </p:nvPr>
        </p:nvSpPr>
        <p:spPr>
          <a:xfrm>
            <a:off x="1254450" y="3888641"/>
            <a:ext cx="10134601"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Picture 5">
            <a:extLst>
              <a:ext uri="{FF2B5EF4-FFF2-40B4-BE49-F238E27FC236}">
                <a16:creationId xmlns:a16="http://schemas.microsoft.com/office/drawing/2014/main" id="{8985BFFC-1E54-050A-66BC-4C794FAD44C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6108" y="6125481"/>
            <a:ext cx="1265881" cy="737095"/>
          </a:xfrm>
          <a:prstGeom prst="rect">
            <a:avLst/>
          </a:prstGeom>
        </p:spPr>
      </p:pic>
      <p:sp>
        <p:nvSpPr>
          <p:cNvPr id="10" name="Rectangle 9">
            <a:extLst>
              <a:ext uri="{FF2B5EF4-FFF2-40B4-BE49-F238E27FC236}">
                <a16:creationId xmlns:a16="http://schemas.microsoft.com/office/drawing/2014/main" id="{1BAC5A45-3D11-1E15-B8DB-E264584D3295}"/>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50923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2613" userDrawn="1">
          <p15:clr>
            <a:srgbClr val="FBAE40"/>
          </p15:clr>
        </p15:guide>
        <p15:guide id="3" orient="horz" pos="121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3CF9114-FFED-87B9-EFC9-E7BC2A64BEC7}"/>
              </a:ext>
            </a:extLst>
          </p:cNvPr>
          <p:cNvSpPr>
            <a:spLocks noGrp="1"/>
          </p:cNvSpPr>
          <p:nvPr>
            <p:ph type="title" hasCustomPrompt="1"/>
          </p:nvPr>
        </p:nvSpPr>
        <p:spPr>
          <a:xfrm>
            <a:off x="1265881" y="972338"/>
            <a:ext cx="7725720" cy="1325563"/>
          </a:xfrm>
        </p:spPr>
        <p:txBody>
          <a:bodyPr anchor="t"/>
          <a:lstStyle>
            <a:lvl1pPr>
              <a:defRPr>
                <a:solidFill>
                  <a:schemeClr val="tx2"/>
                </a:solidFill>
              </a:defRPr>
            </a:lvl1pPr>
          </a:lstStyle>
          <a:p>
            <a:r>
              <a:rPr lang="en-US"/>
              <a:t>Click to Edit Master Title Style</a:t>
            </a:r>
          </a:p>
        </p:txBody>
      </p:sp>
      <p:sp>
        <p:nvSpPr>
          <p:cNvPr id="12" name="Content Placeholder 2">
            <a:extLst>
              <a:ext uri="{FF2B5EF4-FFF2-40B4-BE49-F238E27FC236}">
                <a16:creationId xmlns:a16="http://schemas.microsoft.com/office/drawing/2014/main" id="{3C8178D8-25AE-B449-ECB2-C3C9E0511C43}"/>
              </a:ext>
            </a:extLst>
          </p:cNvPr>
          <p:cNvSpPr>
            <a:spLocks noGrp="1"/>
          </p:cNvSpPr>
          <p:nvPr>
            <p:ph idx="1" hasCustomPrompt="1"/>
          </p:nvPr>
        </p:nvSpPr>
        <p:spPr>
          <a:xfrm>
            <a:off x="1265881" y="2378246"/>
            <a:ext cx="7725720" cy="3101289"/>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0088770C-F459-64D8-EBCA-329BD3560267}"/>
              </a:ext>
            </a:extLst>
          </p:cNvPr>
          <p:cNvSpPr txBox="1"/>
          <p:nvPr userDrawn="1"/>
        </p:nvSpPr>
        <p:spPr>
          <a:xfrm>
            <a:off x="1254451"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4" name="TextBox 3">
            <a:extLst>
              <a:ext uri="{FF2B5EF4-FFF2-40B4-BE49-F238E27FC236}">
                <a16:creationId xmlns:a16="http://schemas.microsoft.com/office/drawing/2014/main" id="{B1F4A6BA-A9F0-67CE-89E6-919E037C6215}"/>
              </a:ext>
            </a:extLst>
          </p:cNvPr>
          <p:cNvSpPr txBox="1"/>
          <p:nvPr userDrawn="1"/>
        </p:nvSpPr>
        <p:spPr>
          <a:xfrm>
            <a:off x="1883101"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6" name="Picture 5">
            <a:extLst>
              <a:ext uri="{FF2B5EF4-FFF2-40B4-BE49-F238E27FC236}">
                <a16:creationId xmlns:a16="http://schemas.microsoft.com/office/drawing/2014/main" id="{82DBF71B-52CC-6259-FED4-4DE5277F9BE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
        <p:nvSpPr>
          <p:cNvPr id="9" name="Rectangle 8">
            <a:extLst>
              <a:ext uri="{FF2B5EF4-FFF2-40B4-BE49-F238E27FC236}">
                <a16:creationId xmlns:a16="http://schemas.microsoft.com/office/drawing/2014/main" id="{13A19605-552C-EEDB-EA16-19A1FE30FAE5}"/>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5989750"/>
      </p:ext>
    </p:extLst>
  </p:cSld>
  <p:clrMapOvr>
    <a:masterClrMapping/>
  </p:clrMapOvr>
  <p:extLst>
    <p:ext uri="{DCECCB84-F9BA-43D5-87BE-67443E8EF086}">
      <p15:sldGuideLst xmlns:p15="http://schemas.microsoft.com/office/powerpoint/2012/main">
        <p15:guide id="1" orient="horz" pos="903"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_Reverse">
    <p:bg>
      <p:bgPr>
        <a:solidFill>
          <a:srgbClr val="00274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874A0-6969-EA8A-6039-E28F49F39837}"/>
              </a:ext>
            </a:extLst>
          </p:cNvPr>
          <p:cNvSpPr>
            <a:spLocks noGrp="1"/>
          </p:cNvSpPr>
          <p:nvPr>
            <p:ph type="title" hasCustomPrompt="1"/>
          </p:nvPr>
        </p:nvSpPr>
        <p:spPr>
          <a:xfrm>
            <a:off x="1265881" y="917746"/>
            <a:ext cx="7725720" cy="1325563"/>
          </a:xfrm>
        </p:spPr>
        <p:txBody>
          <a:bodyP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75800D1A-76D9-2931-F182-1211B20AC558}"/>
              </a:ext>
            </a:extLst>
          </p:cNvPr>
          <p:cNvSpPr>
            <a:spLocks noGrp="1"/>
          </p:cNvSpPr>
          <p:nvPr>
            <p:ph idx="1" hasCustomPrompt="1"/>
          </p:nvPr>
        </p:nvSpPr>
        <p:spPr>
          <a:xfrm>
            <a:off x="1265881" y="2378246"/>
            <a:ext cx="7725720" cy="310128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DEA67C19-81EF-EB6E-EA1E-B07DF1A8DE8E}"/>
              </a:ext>
            </a:extLst>
          </p:cNvPr>
          <p:cNvSpPr txBox="1"/>
          <p:nvPr userDrawn="1"/>
        </p:nvSpPr>
        <p:spPr>
          <a:xfrm>
            <a:off x="1254451"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bg1"/>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bg1"/>
              </a:solidFill>
              <a:latin typeface="Montserrat" pitchFamily="2" charset="77"/>
            </a:endParaRPr>
          </a:p>
        </p:txBody>
      </p:sp>
      <p:sp>
        <p:nvSpPr>
          <p:cNvPr id="6" name="TextBox 5">
            <a:extLst>
              <a:ext uri="{FF2B5EF4-FFF2-40B4-BE49-F238E27FC236}">
                <a16:creationId xmlns:a16="http://schemas.microsoft.com/office/drawing/2014/main" id="{1A785191-97CA-8A07-F5B2-EA8970E61071}"/>
              </a:ext>
            </a:extLst>
          </p:cNvPr>
          <p:cNvSpPr txBox="1"/>
          <p:nvPr userDrawn="1"/>
        </p:nvSpPr>
        <p:spPr>
          <a:xfrm>
            <a:off x="1883101"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Montserrat" pitchFamily="2" charset="77"/>
              </a:rPr>
              <a:t>©2026 CSI. All Rights Reserved</a:t>
            </a:r>
          </a:p>
        </p:txBody>
      </p:sp>
      <p:pic>
        <p:nvPicPr>
          <p:cNvPr id="8" name="Picture 7">
            <a:extLst>
              <a:ext uri="{FF2B5EF4-FFF2-40B4-BE49-F238E27FC236}">
                <a16:creationId xmlns:a16="http://schemas.microsoft.com/office/drawing/2014/main" id="{64B75099-340E-2F84-E4E3-8C03B74F28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6108" y="6125481"/>
            <a:ext cx="1265881" cy="737095"/>
          </a:xfrm>
          <a:prstGeom prst="rect">
            <a:avLst/>
          </a:prstGeom>
        </p:spPr>
      </p:pic>
      <p:sp>
        <p:nvSpPr>
          <p:cNvPr id="10" name="Rectangle 9">
            <a:extLst>
              <a:ext uri="{FF2B5EF4-FFF2-40B4-BE49-F238E27FC236}">
                <a16:creationId xmlns:a16="http://schemas.microsoft.com/office/drawing/2014/main" id="{229B8B0A-3487-0DA3-970F-9067C4D576F8}"/>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7479727"/>
      </p:ext>
    </p:extLst>
  </p:cSld>
  <p:clrMapOvr>
    <a:masterClrMapping/>
  </p:clrMapOvr>
  <p:extLst>
    <p:ext uri="{DCECCB84-F9BA-43D5-87BE-67443E8EF086}">
      <p15:sldGuideLst xmlns:p15="http://schemas.microsoft.com/office/powerpoint/2012/main">
        <p15:guide id="1" orient="horz" pos="90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2F7C84D-1E9C-12EA-7D4E-97D1320FC0D6}"/>
              </a:ext>
            </a:extLst>
          </p:cNvPr>
          <p:cNvSpPr>
            <a:spLocks noGrp="1"/>
          </p:cNvSpPr>
          <p:nvPr>
            <p:ph type="title" hasCustomPrompt="1"/>
          </p:nvPr>
        </p:nvSpPr>
        <p:spPr>
          <a:xfrm>
            <a:off x="786709" y="549664"/>
            <a:ext cx="9222952" cy="1499758"/>
          </a:xfrm>
        </p:spPr>
        <p:txBody>
          <a:bodyPr anchor="t">
            <a:normAutofit/>
          </a:bodyPr>
          <a:lstStyle>
            <a:lvl1pPr>
              <a:defRPr sz="4400">
                <a:solidFill>
                  <a:schemeClr val="tx2"/>
                </a:solidFill>
              </a:defRPr>
            </a:lvl1pPr>
          </a:lstStyle>
          <a:p>
            <a:r>
              <a:rPr lang="en-US"/>
              <a:t>Click to Edit Master Title Style</a:t>
            </a:r>
          </a:p>
        </p:txBody>
      </p:sp>
      <p:sp>
        <p:nvSpPr>
          <p:cNvPr id="11" name="Text Placeholder 2">
            <a:extLst>
              <a:ext uri="{FF2B5EF4-FFF2-40B4-BE49-F238E27FC236}">
                <a16:creationId xmlns:a16="http://schemas.microsoft.com/office/drawing/2014/main" id="{089C19F6-B00E-DEE4-1991-D2AF1D7E4FAC}"/>
              </a:ext>
            </a:extLst>
          </p:cNvPr>
          <p:cNvSpPr>
            <a:spLocks noGrp="1"/>
          </p:cNvSpPr>
          <p:nvPr>
            <p:ph type="body" idx="1" hasCustomPrompt="1"/>
          </p:nvPr>
        </p:nvSpPr>
        <p:spPr>
          <a:xfrm>
            <a:off x="788988" y="2049422"/>
            <a:ext cx="9220673" cy="1499757"/>
          </a:xfrm>
        </p:spPr>
        <p:txBody>
          <a:bodyPr anchor="t"/>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a:t>
            </a:r>
          </a:p>
        </p:txBody>
      </p:sp>
      <p:sp>
        <p:nvSpPr>
          <p:cNvPr id="4" name="TextBox 3">
            <a:extLst>
              <a:ext uri="{FF2B5EF4-FFF2-40B4-BE49-F238E27FC236}">
                <a16:creationId xmlns:a16="http://schemas.microsoft.com/office/drawing/2014/main" id="{9904999F-CF50-7BB9-AF02-94927BED7A93}"/>
              </a:ext>
            </a:extLst>
          </p:cNvPr>
          <p:cNvSpPr txBox="1"/>
          <p:nvPr userDrawn="1"/>
        </p:nvSpPr>
        <p:spPr>
          <a:xfrm>
            <a:off x="786709"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5" name="TextBox 4">
            <a:extLst>
              <a:ext uri="{FF2B5EF4-FFF2-40B4-BE49-F238E27FC236}">
                <a16:creationId xmlns:a16="http://schemas.microsoft.com/office/drawing/2014/main" id="{9D499320-AA8C-EEDB-7D3F-D232419B711C}"/>
              </a:ext>
            </a:extLst>
          </p:cNvPr>
          <p:cNvSpPr txBox="1"/>
          <p:nvPr userDrawn="1"/>
        </p:nvSpPr>
        <p:spPr>
          <a:xfrm>
            <a:off x="1415359"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7" name="Picture 6">
            <a:extLst>
              <a:ext uri="{FF2B5EF4-FFF2-40B4-BE49-F238E27FC236}">
                <a16:creationId xmlns:a16="http://schemas.microsoft.com/office/drawing/2014/main" id="{22EA52ED-084A-883A-2585-610160654C7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3623661427"/>
      </p:ext>
    </p:extLst>
  </p:cSld>
  <p:clrMapOvr>
    <a:masterClrMapping/>
  </p:clrMapOvr>
  <p:extLst>
    <p:ext uri="{DCECCB84-F9BA-43D5-87BE-67443E8EF086}">
      <p15:sldGuideLst xmlns:p15="http://schemas.microsoft.com/office/powerpoint/2012/main">
        <p15:guide id="1" orient="horz" pos="636" userDrawn="1">
          <p15:clr>
            <a:srgbClr val="FBAE40"/>
          </p15:clr>
        </p15:guide>
        <p15:guide id="2" orient="horz" pos="145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Section Header">
    <p:bg>
      <p:bgPr>
        <a:solidFill>
          <a:schemeClr val="tx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5ABD3799-C3B9-1009-07A5-A1ED4618EB53}"/>
              </a:ext>
            </a:extLst>
          </p:cNvPr>
          <p:cNvSpPr>
            <a:spLocks noGrp="1"/>
          </p:cNvSpPr>
          <p:nvPr>
            <p:ph type="title" hasCustomPrompt="1"/>
          </p:nvPr>
        </p:nvSpPr>
        <p:spPr>
          <a:xfrm>
            <a:off x="788988" y="563312"/>
            <a:ext cx="9220673" cy="1499758"/>
          </a:xfrm>
        </p:spPr>
        <p:txBody>
          <a:bodyPr anchor="t">
            <a:normAutofit/>
          </a:bodyPr>
          <a:lstStyle>
            <a:lvl1pPr>
              <a:defRPr sz="4400">
                <a:solidFill>
                  <a:schemeClr val="bg1"/>
                </a:solidFill>
              </a:defRPr>
            </a:lvl1pPr>
          </a:lstStyle>
          <a:p>
            <a:r>
              <a:rPr lang="en-US"/>
              <a:t>Click to Edit Master Title Style</a:t>
            </a:r>
          </a:p>
        </p:txBody>
      </p:sp>
      <p:sp>
        <p:nvSpPr>
          <p:cNvPr id="15" name="Text Placeholder 2">
            <a:extLst>
              <a:ext uri="{FF2B5EF4-FFF2-40B4-BE49-F238E27FC236}">
                <a16:creationId xmlns:a16="http://schemas.microsoft.com/office/drawing/2014/main" id="{0E41C5B3-FB99-3562-3ADB-69024BAEDE85}"/>
              </a:ext>
            </a:extLst>
          </p:cNvPr>
          <p:cNvSpPr>
            <a:spLocks noGrp="1"/>
          </p:cNvSpPr>
          <p:nvPr>
            <p:ph type="body" idx="1" hasCustomPrompt="1"/>
          </p:nvPr>
        </p:nvSpPr>
        <p:spPr>
          <a:xfrm>
            <a:off x="788988" y="2049422"/>
            <a:ext cx="9220673" cy="1499757"/>
          </a:xfrm>
        </p:spPr>
        <p:txBody>
          <a:bodyPr anchor="t"/>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a:t>
            </a:r>
          </a:p>
        </p:txBody>
      </p:sp>
      <p:sp>
        <p:nvSpPr>
          <p:cNvPr id="2" name="TextBox 1">
            <a:extLst>
              <a:ext uri="{FF2B5EF4-FFF2-40B4-BE49-F238E27FC236}">
                <a16:creationId xmlns:a16="http://schemas.microsoft.com/office/drawing/2014/main" id="{56460F00-FBEA-CDB1-BB39-AC42D304AD3B}"/>
              </a:ext>
            </a:extLst>
          </p:cNvPr>
          <p:cNvSpPr txBox="1"/>
          <p:nvPr userDrawn="1"/>
        </p:nvSpPr>
        <p:spPr>
          <a:xfrm>
            <a:off x="785821"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bg1"/>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bg1"/>
              </a:solidFill>
              <a:latin typeface="Montserrat" pitchFamily="2" charset="77"/>
            </a:endParaRPr>
          </a:p>
        </p:txBody>
      </p:sp>
      <p:sp>
        <p:nvSpPr>
          <p:cNvPr id="3" name="TextBox 2">
            <a:extLst>
              <a:ext uri="{FF2B5EF4-FFF2-40B4-BE49-F238E27FC236}">
                <a16:creationId xmlns:a16="http://schemas.microsoft.com/office/drawing/2014/main" id="{269A9EE7-163E-07C9-852A-F408C071163A}"/>
              </a:ext>
            </a:extLst>
          </p:cNvPr>
          <p:cNvSpPr txBox="1"/>
          <p:nvPr userDrawn="1"/>
        </p:nvSpPr>
        <p:spPr>
          <a:xfrm>
            <a:off x="1414471"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Montserrat" pitchFamily="2" charset="77"/>
              </a:rPr>
              <a:t>©2026 CSI. All Rights Reserved</a:t>
            </a:r>
          </a:p>
        </p:txBody>
      </p:sp>
      <p:pic>
        <p:nvPicPr>
          <p:cNvPr id="4" name="Picture 3">
            <a:extLst>
              <a:ext uri="{FF2B5EF4-FFF2-40B4-BE49-F238E27FC236}">
                <a16:creationId xmlns:a16="http://schemas.microsoft.com/office/drawing/2014/main" id="{249BC47B-051F-073D-94AB-D320977C56E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6108" y="6125481"/>
            <a:ext cx="1265881" cy="737095"/>
          </a:xfrm>
          <a:prstGeom prst="rect">
            <a:avLst/>
          </a:prstGeom>
        </p:spPr>
      </p:pic>
    </p:spTree>
    <p:extLst>
      <p:ext uri="{BB962C8B-B14F-4D97-AF65-F5344CB8AC3E}">
        <p14:creationId xmlns:p14="http://schemas.microsoft.com/office/powerpoint/2010/main" val="2810103744"/>
      </p:ext>
    </p:extLst>
  </p:cSld>
  <p:clrMapOvr>
    <a:masterClrMapping/>
  </p:clrMapOvr>
  <p:extLst>
    <p:ext uri="{DCECCB84-F9BA-43D5-87BE-67443E8EF086}">
      <p15:sldGuideLst xmlns:p15="http://schemas.microsoft.com/office/powerpoint/2012/main">
        <p15:guide id="1" orient="horz" pos="641" userDrawn="1">
          <p15:clr>
            <a:srgbClr val="FBAE40"/>
          </p15:clr>
        </p15:guide>
        <p15:guide id="2" orient="horz" pos="1453"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Section Header_Gray Bkgrnd">
    <p:bg>
      <p:bgPr>
        <a:solidFill>
          <a:srgbClr val="EFEFEF"/>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01120FB-95D8-DA0F-5084-368849C322D0}"/>
              </a:ext>
            </a:extLst>
          </p:cNvPr>
          <p:cNvSpPr>
            <a:spLocks noGrp="1"/>
          </p:cNvSpPr>
          <p:nvPr>
            <p:ph type="title" hasCustomPrompt="1"/>
          </p:nvPr>
        </p:nvSpPr>
        <p:spPr>
          <a:xfrm>
            <a:off x="786709" y="549664"/>
            <a:ext cx="9222952" cy="1499758"/>
          </a:xfrm>
        </p:spPr>
        <p:txBody>
          <a:bodyPr anchor="t">
            <a:normAutofit/>
          </a:bodyPr>
          <a:lstStyle>
            <a:lvl1pPr>
              <a:defRPr sz="4400">
                <a:solidFill>
                  <a:schemeClr val="tx2"/>
                </a:solidFill>
              </a:defRPr>
            </a:lvl1pPr>
          </a:lstStyle>
          <a:p>
            <a:r>
              <a:rPr lang="en-US"/>
              <a:t>Click to Edit Master Title Style</a:t>
            </a:r>
          </a:p>
        </p:txBody>
      </p:sp>
      <p:sp>
        <p:nvSpPr>
          <p:cNvPr id="11" name="Text Placeholder 2">
            <a:extLst>
              <a:ext uri="{FF2B5EF4-FFF2-40B4-BE49-F238E27FC236}">
                <a16:creationId xmlns:a16="http://schemas.microsoft.com/office/drawing/2014/main" id="{173033BF-78F7-9725-90E4-2725015A83A6}"/>
              </a:ext>
            </a:extLst>
          </p:cNvPr>
          <p:cNvSpPr>
            <a:spLocks noGrp="1"/>
          </p:cNvSpPr>
          <p:nvPr>
            <p:ph type="body" idx="1" hasCustomPrompt="1"/>
          </p:nvPr>
        </p:nvSpPr>
        <p:spPr>
          <a:xfrm>
            <a:off x="786709" y="2049422"/>
            <a:ext cx="9222952" cy="1499757"/>
          </a:xfrm>
        </p:spPr>
        <p:txBody>
          <a:bodyPr anchor="t"/>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a:t>
            </a:r>
          </a:p>
        </p:txBody>
      </p:sp>
      <p:sp>
        <p:nvSpPr>
          <p:cNvPr id="4" name="TextBox 3">
            <a:extLst>
              <a:ext uri="{FF2B5EF4-FFF2-40B4-BE49-F238E27FC236}">
                <a16:creationId xmlns:a16="http://schemas.microsoft.com/office/drawing/2014/main" id="{5BAB82E0-5569-6C21-9177-E9F0123C755F}"/>
              </a:ext>
            </a:extLst>
          </p:cNvPr>
          <p:cNvSpPr txBox="1"/>
          <p:nvPr userDrawn="1"/>
        </p:nvSpPr>
        <p:spPr>
          <a:xfrm>
            <a:off x="786709"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5" name="TextBox 4">
            <a:extLst>
              <a:ext uri="{FF2B5EF4-FFF2-40B4-BE49-F238E27FC236}">
                <a16:creationId xmlns:a16="http://schemas.microsoft.com/office/drawing/2014/main" id="{389A7C61-76F2-91B5-2D46-A7B78C330EAB}"/>
              </a:ext>
            </a:extLst>
          </p:cNvPr>
          <p:cNvSpPr txBox="1"/>
          <p:nvPr userDrawn="1"/>
        </p:nvSpPr>
        <p:spPr>
          <a:xfrm>
            <a:off x="1415359"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9" name="Picture 8">
            <a:extLst>
              <a:ext uri="{FF2B5EF4-FFF2-40B4-BE49-F238E27FC236}">
                <a16:creationId xmlns:a16="http://schemas.microsoft.com/office/drawing/2014/main" id="{B207ACFA-7E4B-9C1E-9E26-4AE188584A8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2764839202"/>
      </p:ext>
    </p:extLst>
  </p:cSld>
  <p:clrMapOvr>
    <a:masterClrMapping/>
  </p:clrMapOvr>
  <p:extLst>
    <p:ext uri="{DCECCB84-F9BA-43D5-87BE-67443E8EF086}">
      <p15:sldGuideLst xmlns:p15="http://schemas.microsoft.com/office/powerpoint/2012/main">
        <p15:guide id="1" orient="horz" pos="636" userDrawn="1">
          <p15:clr>
            <a:srgbClr val="FBAE40"/>
          </p15:clr>
        </p15:guide>
        <p15:guide id="2" orient="horz" pos="1453"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2_Title Slid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1B05F-027C-3F55-54CD-69C6DDB46B0A}"/>
              </a:ext>
            </a:extLst>
          </p:cNvPr>
          <p:cNvSpPr>
            <a:spLocks noGrp="1"/>
          </p:cNvSpPr>
          <p:nvPr>
            <p:ph type="ctrTitle" hasCustomPrompt="1"/>
          </p:nvPr>
        </p:nvSpPr>
        <p:spPr>
          <a:xfrm>
            <a:off x="1264611" y="1122363"/>
            <a:ext cx="9144000" cy="2387600"/>
          </a:xfrm>
        </p:spPr>
        <p:txBody>
          <a:bodyPr anchor="t"/>
          <a:lstStyle>
            <a:lvl1pPr algn="l">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78D283AD-6372-B546-4F85-318DE6EEDCAF}"/>
              </a:ext>
            </a:extLst>
          </p:cNvPr>
          <p:cNvSpPr>
            <a:spLocks noGrp="1"/>
          </p:cNvSpPr>
          <p:nvPr>
            <p:ph type="subTitle" idx="1" hasCustomPrompt="1"/>
          </p:nvPr>
        </p:nvSpPr>
        <p:spPr>
          <a:xfrm>
            <a:off x="1264611" y="3602038"/>
            <a:ext cx="9144000" cy="16557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Picture 5">
            <a:extLst>
              <a:ext uri="{FF2B5EF4-FFF2-40B4-BE49-F238E27FC236}">
                <a16:creationId xmlns:a16="http://schemas.microsoft.com/office/drawing/2014/main" id="{6867599A-504D-6094-3B76-883367F1DA8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382080" y="6125481"/>
            <a:ext cx="1265881" cy="737095"/>
          </a:xfrm>
          <a:prstGeom prst="rect">
            <a:avLst/>
          </a:prstGeom>
        </p:spPr>
      </p:pic>
      <p:sp>
        <p:nvSpPr>
          <p:cNvPr id="4" name="TextBox 3">
            <a:extLst>
              <a:ext uri="{FF2B5EF4-FFF2-40B4-BE49-F238E27FC236}">
                <a16:creationId xmlns:a16="http://schemas.microsoft.com/office/drawing/2014/main" id="{3AAEA832-84C0-50C8-4545-D40485C95415}"/>
              </a:ext>
            </a:extLst>
          </p:cNvPr>
          <p:cNvSpPr txBox="1"/>
          <p:nvPr userDrawn="1"/>
        </p:nvSpPr>
        <p:spPr>
          <a:xfrm>
            <a:off x="785821"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bg1"/>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bg1"/>
              </a:solidFill>
              <a:latin typeface="Montserrat" pitchFamily="2" charset="77"/>
            </a:endParaRPr>
          </a:p>
        </p:txBody>
      </p:sp>
      <p:sp>
        <p:nvSpPr>
          <p:cNvPr id="5" name="TextBox 4">
            <a:extLst>
              <a:ext uri="{FF2B5EF4-FFF2-40B4-BE49-F238E27FC236}">
                <a16:creationId xmlns:a16="http://schemas.microsoft.com/office/drawing/2014/main" id="{55165FF6-EDDE-BD54-0AE6-2DAE53D26D8F}"/>
              </a:ext>
            </a:extLst>
          </p:cNvPr>
          <p:cNvSpPr txBox="1"/>
          <p:nvPr userDrawn="1"/>
        </p:nvSpPr>
        <p:spPr>
          <a:xfrm>
            <a:off x="1414471"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Montserrat" pitchFamily="2" charset="77"/>
              </a:rPr>
              <a:t>©2026 CSI. All Rights Reserved</a:t>
            </a:r>
          </a:p>
        </p:txBody>
      </p:sp>
      <p:sp>
        <p:nvSpPr>
          <p:cNvPr id="11" name="Rectangle 10">
            <a:extLst>
              <a:ext uri="{FF2B5EF4-FFF2-40B4-BE49-F238E27FC236}">
                <a16:creationId xmlns:a16="http://schemas.microsoft.com/office/drawing/2014/main" id="{22660A56-F638-7E69-858E-E1A183759735}"/>
              </a:ext>
            </a:extLst>
          </p:cNvPr>
          <p:cNvSpPr/>
          <p:nvPr userDrawn="1"/>
        </p:nvSpPr>
        <p:spPr>
          <a:xfrm>
            <a:off x="1173480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0185105"/>
      </p:ext>
    </p:extLst>
  </p:cSld>
  <p:clrMapOvr>
    <a:masterClrMapping/>
  </p:clrMapOvr>
  <p:extLst>
    <p:ext uri="{DCECCB84-F9BA-43D5-87BE-67443E8EF086}">
      <p15:sldGuideLst xmlns:p15="http://schemas.microsoft.com/office/powerpoint/2012/main">
        <p15:guide id="1" orient="horz" pos="1100" userDrawn="1">
          <p15:clr>
            <a:srgbClr val="FBAE40"/>
          </p15:clr>
        </p15:guide>
        <p15:guide id="2" orient="horz" pos="242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91FF2-E2F6-165C-EB93-D1B986440B03}"/>
              </a:ext>
            </a:extLst>
          </p:cNvPr>
          <p:cNvSpPr>
            <a:spLocks noGrp="1"/>
          </p:cNvSpPr>
          <p:nvPr>
            <p:ph type="title" hasCustomPrompt="1"/>
          </p:nvPr>
        </p:nvSpPr>
        <p:spPr>
          <a:xfrm>
            <a:off x="788988" y="556192"/>
            <a:ext cx="10602912" cy="1325563"/>
          </a:xfrm>
        </p:spPr>
        <p:txBody>
          <a:bodyPr/>
          <a:lstStyle>
            <a:lvl1pPr>
              <a:defRPr>
                <a:solidFill>
                  <a:schemeClr val="tx2"/>
                </a:solidFill>
              </a:defRPr>
            </a:lvl1pPr>
          </a:lstStyle>
          <a:p>
            <a:r>
              <a:rPr lang="en-US"/>
              <a:t>Click to Edit Master Title Style</a:t>
            </a:r>
          </a:p>
        </p:txBody>
      </p:sp>
      <p:sp>
        <p:nvSpPr>
          <p:cNvPr id="8" name="TextBox 7">
            <a:extLst>
              <a:ext uri="{FF2B5EF4-FFF2-40B4-BE49-F238E27FC236}">
                <a16:creationId xmlns:a16="http://schemas.microsoft.com/office/drawing/2014/main" id="{1F84DBAF-77C8-1953-CEAB-68C02C2035BC}"/>
              </a:ext>
            </a:extLst>
          </p:cNvPr>
          <p:cNvSpPr txBox="1"/>
          <p:nvPr userDrawn="1"/>
        </p:nvSpPr>
        <p:spPr>
          <a:xfrm>
            <a:off x="786709"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9" name="TextBox 8">
            <a:extLst>
              <a:ext uri="{FF2B5EF4-FFF2-40B4-BE49-F238E27FC236}">
                <a16:creationId xmlns:a16="http://schemas.microsoft.com/office/drawing/2014/main" id="{BF2BD7C7-3931-D450-F05C-C5FD0CF136FE}"/>
              </a:ext>
            </a:extLst>
          </p:cNvPr>
          <p:cNvSpPr txBox="1"/>
          <p:nvPr userDrawn="1"/>
        </p:nvSpPr>
        <p:spPr>
          <a:xfrm>
            <a:off x="1415359"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0" name="Picture 9">
            <a:extLst>
              <a:ext uri="{FF2B5EF4-FFF2-40B4-BE49-F238E27FC236}">
                <a16:creationId xmlns:a16="http://schemas.microsoft.com/office/drawing/2014/main" id="{DE7DAF41-1235-974B-8592-CAD4F1E7F3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3153186766"/>
      </p:ext>
    </p:extLst>
  </p:cSld>
  <p:clrMapOvr>
    <a:masterClrMapping/>
  </p:clrMapOvr>
  <p:extLst>
    <p:ext uri="{DCECCB84-F9BA-43D5-87BE-67443E8EF086}">
      <p15:sldGuideLst xmlns:p15="http://schemas.microsoft.com/office/powerpoint/2012/main">
        <p15:guide id="1" orient="horz" pos="636"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8F53E-FA97-816C-8CFD-CD04AD7C253A}"/>
              </a:ext>
            </a:extLst>
          </p:cNvPr>
          <p:cNvSpPr>
            <a:spLocks noGrp="1"/>
          </p:cNvSpPr>
          <p:nvPr>
            <p:ph type="title" hasCustomPrompt="1"/>
          </p:nvPr>
        </p:nvSpPr>
        <p:spPr>
          <a:xfrm>
            <a:off x="788988" y="545614"/>
            <a:ext cx="10602912" cy="1325563"/>
          </a:xfrm>
        </p:spPr>
        <p:txBody>
          <a:bodyPr/>
          <a:lstStyle>
            <a:lvl1pPr>
              <a:defRPr>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D386420-1D6F-4E77-6D25-9D66BFD2AC4D}"/>
              </a:ext>
            </a:extLst>
          </p:cNvPr>
          <p:cNvSpPr>
            <a:spLocks noGrp="1"/>
          </p:cNvSpPr>
          <p:nvPr>
            <p:ph sz="half" idx="1" hasCustomPrompt="1"/>
          </p:nvPr>
        </p:nvSpPr>
        <p:spPr>
          <a:xfrm>
            <a:off x="786709" y="1661849"/>
            <a:ext cx="5181600" cy="4351338"/>
          </a:xfrm>
        </p:spPr>
        <p:txBody>
          <a:bodyPr/>
          <a:lstStyle>
            <a:lvl1pPr>
              <a:buClr>
                <a:schemeClr val="tx2"/>
              </a:buClr>
              <a:defRPr>
                <a:solidFill>
                  <a:schemeClr val="tx2"/>
                </a:solidFill>
              </a:defRPr>
            </a:lvl1pPr>
            <a:lvl2pPr>
              <a:buClr>
                <a:schemeClr val="tx2"/>
              </a:buClr>
              <a:defRPr>
                <a:solidFill>
                  <a:schemeClr val="tx2"/>
                </a:solidFill>
              </a:defRPr>
            </a:lvl2pPr>
            <a:lvl3pPr>
              <a:buClr>
                <a:schemeClr val="tx2"/>
              </a:buClr>
              <a:defRPr>
                <a:solidFill>
                  <a:schemeClr val="tx2"/>
                </a:solidFill>
              </a:defRPr>
            </a:lvl3pPr>
            <a:lvl4pPr>
              <a:buClr>
                <a:schemeClr val="tx2"/>
              </a:buClr>
              <a:defRPr>
                <a:solidFill>
                  <a:schemeClr val="tx2"/>
                </a:solidFill>
              </a:defRPr>
            </a:lvl4pPr>
            <a:lvl5pPr>
              <a:buClr>
                <a:schemeClr val="tx2"/>
              </a:buClr>
              <a:defRPr>
                <a:solidFill>
                  <a:schemeClr val="tx2"/>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91D165-1D98-F679-0830-8E8A900574AA}"/>
              </a:ext>
            </a:extLst>
          </p:cNvPr>
          <p:cNvSpPr>
            <a:spLocks noGrp="1"/>
          </p:cNvSpPr>
          <p:nvPr>
            <p:ph sz="half" idx="2" hasCustomPrompt="1"/>
          </p:nvPr>
        </p:nvSpPr>
        <p:spPr>
          <a:xfrm>
            <a:off x="6223693" y="1661849"/>
            <a:ext cx="5181600" cy="4351338"/>
          </a:xfrm>
        </p:spPr>
        <p:txBody>
          <a:bodyPr/>
          <a:lstStyle>
            <a:lvl1pPr>
              <a:buClr>
                <a:schemeClr val="tx2"/>
              </a:buClr>
              <a:defRPr>
                <a:solidFill>
                  <a:schemeClr val="tx2"/>
                </a:solidFill>
              </a:defRPr>
            </a:lvl1pPr>
            <a:lvl2pPr>
              <a:buClr>
                <a:schemeClr val="tx2"/>
              </a:buClr>
              <a:defRPr>
                <a:solidFill>
                  <a:schemeClr val="tx2"/>
                </a:solidFill>
              </a:defRPr>
            </a:lvl2pPr>
            <a:lvl3pPr>
              <a:buClr>
                <a:schemeClr val="tx2"/>
              </a:buClr>
              <a:defRPr>
                <a:solidFill>
                  <a:schemeClr val="tx2"/>
                </a:solidFill>
              </a:defRPr>
            </a:lvl3pPr>
            <a:lvl4pPr>
              <a:buClr>
                <a:schemeClr val="tx2"/>
              </a:buClr>
              <a:defRPr>
                <a:solidFill>
                  <a:schemeClr val="tx2"/>
                </a:solidFill>
              </a:defRPr>
            </a:lvl4pPr>
            <a:lvl5pPr>
              <a:buClr>
                <a:schemeClr val="tx2"/>
              </a:buClr>
              <a:defRPr>
                <a:solidFill>
                  <a:schemeClr val="tx2"/>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15EF283C-B7A3-0DCD-8B2A-E0F4A5B1CA39}"/>
              </a:ext>
            </a:extLst>
          </p:cNvPr>
          <p:cNvSpPr txBox="1"/>
          <p:nvPr userDrawn="1"/>
        </p:nvSpPr>
        <p:spPr>
          <a:xfrm>
            <a:off x="786709"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11" name="TextBox 10">
            <a:extLst>
              <a:ext uri="{FF2B5EF4-FFF2-40B4-BE49-F238E27FC236}">
                <a16:creationId xmlns:a16="http://schemas.microsoft.com/office/drawing/2014/main" id="{939CD963-F222-83BB-3C6D-B1953D0587B6}"/>
              </a:ext>
            </a:extLst>
          </p:cNvPr>
          <p:cNvSpPr txBox="1"/>
          <p:nvPr userDrawn="1"/>
        </p:nvSpPr>
        <p:spPr>
          <a:xfrm>
            <a:off x="1415359"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2" name="Picture 11">
            <a:extLst>
              <a:ext uri="{FF2B5EF4-FFF2-40B4-BE49-F238E27FC236}">
                <a16:creationId xmlns:a16="http://schemas.microsoft.com/office/drawing/2014/main" id="{0CD90884-5449-E161-513B-54EF0250A9E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3069273108"/>
      </p:ext>
    </p:extLst>
  </p:cSld>
  <p:clrMapOvr>
    <a:masterClrMapping/>
  </p:clrMapOvr>
  <p:extLst>
    <p:ext uri="{DCECCB84-F9BA-43D5-87BE-67443E8EF086}">
      <p15:sldGuideLst xmlns:p15="http://schemas.microsoft.com/office/powerpoint/2012/main">
        <p15:guide id="1" orient="horz" pos="63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F9380-E958-9608-60A4-B27B89129601}"/>
              </a:ext>
            </a:extLst>
          </p:cNvPr>
          <p:cNvSpPr>
            <a:spLocks noGrp="1"/>
          </p:cNvSpPr>
          <p:nvPr>
            <p:ph type="title" hasCustomPrompt="1"/>
          </p:nvPr>
        </p:nvSpPr>
        <p:spPr>
          <a:xfrm>
            <a:off x="788988" y="545910"/>
            <a:ext cx="10602912" cy="981002"/>
          </a:xfrm>
        </p:spPr>
        <p:txBody>
          <a:bodyPr/>
          <a:lstStyle>
            <a:lvl1pPr>
              <a:defRPr>
                <a:solidFill>
                  <a:schemeClr val="tx2"/>
                </a:solidFill>
              </a:defRPr>
            </a:lvl1pPr>
          </a:lstStyle>
          <a:p>
            <a:r>
              <a:rPr lang="en-US"/>
              <a:t>Click to Edit Master Title Style</a:t>
            </a:r>
          </a:p>
        </p:txBody>
      </p:sp>
      <p:sp>
        <p:nvSpPr>
          <p:cNvPr id="3" name="Text Placeholder 2">
            <a:extLst>
              <a:ext uri="{FF2B5EF4-FFF2-40B4-BE49-F238E27FC236}">
                <a16:creationId xmlns:a16="http://schemas.microsoft.com/office/drawing/2014/main" id="{FD64447D-4CE6-3152-9D2A-500DD8D4D9BD}"/>
              </a:ext>
            </a:extLst>
          </p:cNvPr>
          <p:cNvSpPr>
            <a:spLocks noGrp="1"/>
          </p:cNvSpPr>
          <p:nvPr>
            <p:ph type="body" idx="1" hasCustomPrompt="1"/>
          </p:nvPr>
        </p:nvSpPr>
        <p:spPr>
          <a:xfrm>
            <a:off x="788988" y="1517387"/>
            <a:ext cx="5157787"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92F54B5-55A1-D322-94F1-DD01BA28E1FD}"/>
              </a:ext>
            </a:extLst>
          </p:cNvPr>
          <p:cNvSpPr>
            <a:spLocks noGrp="1"/>
          </p:cNvSpPr>
          <p:nvPr>
            <p:ph sz="half" idx="2" hasCustomPrompt="1"/>
          </p:nvPr>
        </p:nvSpPr>
        <p:spPr>
          <a:xfrm>
            <a:off x="788988" y="2432739"/>
            <a:ext cx="5157787" cy="3684588"/>
          </a:xfrm>
        </p:spPr>
        <p:txBody>
          <a:bodyPr/>
          <a:lstStyle>
            <a:lvl1pPr>
              <a:buClr>
                <a:schemeClr val="tx2"/>
              </a:buClr>
              <a:defRPr>
                <a:solidFill>
                  <a:schemeClr val="tx2"/>
                </a:solidFill>
              </a:defRPr>
            </a:lvl1pPr>
            <a:lvl2pPr>
              <a:buClr>
                <a:schemeClr val="tx2"/>
              </a:buClr>
              <a:defRPr>
                <a:solidFill>
                  <a:schemeClr val="tx2"/>
                </a:solidFill>
              </a:defRPr>
            </a:lvl2pPr>
            <a:lvl3pPr>
              <a:buClr>
                <a:schemeClr val="tx2"/>
              </a:buClr>
              <a:defRPr>
                <a:solidFill>
                  <a:schemeClr val="tx2"/>
                </a:solidFill>
              </a:defRPr>
            </a:lvl3pPr>
            <a:lvl4pPr>
              <a:buClr>
                <a:schemeClr val="tx2"/>
              </a:buClr>
              <a:defRPr>
                <a:solidFill>
                  <a:schemeClr val="tx2"/>
                </a:solidFill>
              </a:defRPr>
            </a:lvl4pPr>
            <a:lvl5pPr>
              <a:buClr>
                <a:schemeClr val="tx2"/>
              </a:buClr>
              <a:defRPr>
                <a:solidFill>
                  <a:schemeClr val="tx2"/>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460027-95EC-214D-57DC-FAC081736B8B}"/>
              </a:ext>
            </a:extLst>
          </p:cNvPr>
          <p:cNvSpPr>
            <a:spLocks noGrp="1"/>
          </p:cNvSpPr>
          <p:nvPr>
            <p:ph type="body" sz="quarter" idx="3" hasCustomPrompt="1"/>
          </p:nvPr>
        </p:nvSpPr>
        <p:spPr>
          <a:xfrm>
            <a:off x="6208712" y="1517387"/>
            <a:ext cx="5183188"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AD2B6E-A872-DFAE-29DC-5C016043384F}"/>
              </a:ext>
            </a:extLst>
          </p:cNvPr>
          <p:cNvSpPr>
            <a:spLocks noGrp="1"/>
          </p:cNvSpPr>
          <p:nvPr>
            <p:ph sz="quarter" idx="4" hasCustomPrompt="1"/>
          </p:nvPr>
        </p:nvSpPr>
        <p:spPr>
          <a:xfrm>
            <a:off x="6208712" y="2432739"/>
            <a:ext cx="5183188" cy="3684588"/>
          </a:xfrm>
        </p:spPr>
        <p:txBody>
          <a:bodyPr/>
          <a:lstStyle>
            <a:lvl1pPr>
              <a:buClr>
                <a:schemeClr val="tx2"/>
              </a:buClr>
              <a:defRPr>
                <a:solidFill>
                  <a:schemeClr val="tx2"/>
                </a:solidFill>
              </a:defRPr>
            </a:lvl1pPr>
            <a:lvl2pPr>
              <a:buClr>
                <a:schemeClr val="tx2"/>
              </a:buClr>
              <a:defRPr>
                <a:solidFill>
                  <a:schemeClr val="tx2"/>
                </a:solidFill>
              </a:defRPr>
            </a:lvl2pPr>
            <a:lvl3pPr>
              <a:buClr>
                <a:schemeClr val="tx2"/>
              </a:buClr>
              <a:defRPr>
                <a:solidFill>
                  <a:schemeClr val="tx2"/>
                </a:solidFill>
              </a:defRPr>
            </a:lvl3pPr>
            <a:lvl4pPr>
              <a:buClr>
                <a:schemeClr val="tx2"/>
              </a:buClr>
              <a:defRPr>
                <a:solidFill>
                  <a:schemeClr val="tx2"/>
                </a:solidFill>
              </a:defRPr>
            </a:lvl4pPr>
            <a:lvl5pPr>
              <a:buClr>
                <a:schemeClr val="tx2"/>
              </a:buClr>
              <a:defRPr>
                <a:solidFill>
                  <a:schemeClr val="tx2"/>
                </a:solidFill>
              </a:defRPr>
            </a:lvl5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10" name="TextBox 9">
            <a:extLst>
              <a:ext uri="{FF2B5EF4-FFF2-40B4-BE49-F238E27FC236}">
                <a16:creationId xmlns:a16="http://schemas.microsoft.com/office/drawing/2014/main" id="{550BB1DE-CB6C-1B99-25DE-6AB056BF2535}"/>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11" name="TextBox 10">
            <a:extLst>
              <a:ext uri="{FF2B5EF4-FFF2-40B4-BE49-F238E27FC236}">
                <a16:creationId xmlns:a16="http://schemas.microsoft.com/office/drawing/2014/main" id="{A387CAFC-2EDF-E96D-5188-704B7EC8AE57}"/>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2" name="Picture 11">
            <a:extLst>
              <a:ext uri="{FF2B5EF4-FFF2-40B4-BE49-F238E27FC236}">
                <a16:creationId xmlns:a16="http://schemas.microsoft.com/office/drawing/2014/main" id="{D954CE75-C730-CA23-ABC9-49AA212E291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40984996"/>
      </p:ext>
    </p:extLst>
  </p:cSld>
  <p:clrMapOvr>
    <a:masterClrMapping/>
  </p:clrMapOvr>
  <p:extLst>
    <p:ext uri="{DCECCB84-F9BA-43D5-87BE-67443E8EF086}">
      <p15:sldGuideLst xmlns:p15="http://schemas.microsoft.com/office/powerpoint/2012/main">
        <p15:guide id="1" orient="horz" pos="63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B6C47A-F05A-5342-C885-7312BEDC7DA7}"/>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6" name="TextBox 5">
            <a:extLst>
              <a:ext uri="{FF2B5EF4-FFF2-40B4-BE49-F238E27FC236}">
                <a16:creationId xmlns:a16="http://schemas.microsoft.com/office/drawing/2014/main" id="{8DFF02C9-78DE-1C56-FDD2-49B0552B9B9B}"/>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7" name="Picture 6">
            <a:extLst>
              <a:ext uri="{FF2B5EF4-FFF2-40B4-BE49-F238E27FC236}">
                <a16:creationId xmlns:a16="http://schemas.microsoft.com/office/drawing/2014/main" id="{7D335DC1-8125-E493-FA2A-26CFF74C53C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25501657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833DE-74EB-D234-5FDC-2011E1798430}"/>
              </a:ext>
            </a:extLst>
          </p:cNvPr>
          <p:cNvSpPr>
            <a:spLocks noGrp="1"/>
          </p:cNvSpPr>
          <p:nvPr>
            <p:ph type="title" hasCustomPrompt="1"/>
          </p:nvPr>
        </p:nvSpPr>
        <p:spPr>
          <a:xfrm>
            <a:off x="766446" y="978408"/>
            <a:ext cx="3932237" cy="890587"/>
          </a:xfrm>
        </p:spPr>
        <p:txBody>
          <a:bodyPr anchor="t" anchorCtr="0"/>
          <a:lstStyle>
            <a:lvl1pPr>
              <a:defRPr sz="32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78AA105-F79A-BDC3-B591-EF96F3EF7C5E}"/>
              </a:ext>
            </a:extLst>
          </p:cNvPr>
          <p:cNvSpPr>
            <a:spLocks noGrp="1"/>
          </p:cNvSpPr>
          <p:nvPr>
            <p:ph idx="1" hasCustomPrompt="1"/>
          </p:nvPr>
        </p:nvSpPr>
        <p:spPr>
          <a:xfrm>
            <a:off x="5219700" y="987425"/>
            <a:ext cx="6172200" cy="4873625"/>
          </a:xfrm>
        </p:spPr>
        <p:txBody>
          <a:bodyPr/>
          <a:lstStyle>
            <a:lvl1pPr>
              <a:buClr>
                <a:schemeClr val="tx2"/>
              </a:buClr>
              <a:defRPr sz="3200">
                <a:solidFill>
                  <a:schemeClr val="tx2"/>
                </a:solidFill>
              </a:defRPr>
            </a:lvl1pPr>
            <a:lvl2pPr>
              <a:buClr>
                <a:schemeClr val="tx2"/>
              </a:buClr>
              <a:defRPr sz="2800">
                <a:solidFill>
                  <a:schemeClr val="tx2"/>
                </a:solidFill>
              </a:defRPr>
            </a:lvl2pPr>
            <a:lvl3pPr>
              <a:buClr>
                <a:schemeClr val="tx2"/>
              </a:buClr>
              <a:defRPr sz="2400">
                <a:solidFill>
                  <a:schemeClr val="tx2"/>
                </a:solidFill>
              </a:defRPr>
            </a:lvl3pPr>
            <a:lvl4pPr>
              <a:buClr>
                <a:schemeClr val="tx2"/>
              </a:buClr>
              <a:defRPr sz="2000">
                <a:solidFill>
                  <a:schemeClr val="tx2"/>
                </a:solidFill>
              </a:defRPr>
            </a:lvl4pPr>
            <a:lvl5pPr>
              <a:buClr>
                <a:schemeClr val="tx2"/>
              </a:buClr>
              <a:defRPr sz="2000">
                <a:solidFill>
                  <a:schemeClr val="tx2"/>
                </a:solidFill>
              </a:defRPr>
            </a:lvl5pPr>
            <a:lvl6pPr>
              <a:defRPr sz="2000"/>
            </a:lvl6pPr>
            <a:lvl7pPr>
              <a:defRPr sz="2000"/>
            </a:lvl7pPr>
            <a:lvl8pPr>
              <a:defRPr sz="2000"/>
            </a:lvl8pPr>
            <a:lvl9pPr>
              <a:defRPr sz="2000"/>
            </a:lvl9p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36C6E4-8826-F3FE-6531-31EAD21A063A}"/>
              </a:ext>
            </a:extLst>
          </p:cNvPr>
          <p:cNvSpPr>
            <a:spLocks noGrp="1"/>
          </p:cNvSpPr>
          <p:nvPr>
            <p:ph type="body" sz="half" idx="2" hasCustomPrompt="1"/>
          </p:nvPr>
        </p:nvSpPr>
        <p:spPr>
          <a:xfrm>
            <a:off x="788988" y="1969452"/>
            <a:ext cx="3909695" cy="3811588"/>
          </a:xfrm>
        </p:spPr>
        <p:txBody>
          <a:bodyPr/>
          <a:lstStyle>
            <a:lvl1pPr marL="0" indent="0">
              <a:buNone/>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8" name="TextBox 7">
            <a:extLst>
              <a:ext uri="{FF2B5EF4-FFF2-40B4-BE49-F238E27FC236}">
                <a16:creationId xmlns:a16="http://schemas.microsoft.com/office/drawing/2014/main" id="{5F9FB4F7-FB61-19E6-B17D-6E25B229E2A5}"/>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9" name="TextBox 8">
            <a:extLst>
              <a:ext uri="{FF2B5EF4-FFF2-40B4-BE49-F238E27FC236}">
                <a16:creationId xmlns:a16="http://schemas.microsoft.com/office/drawing/2014/main" id="{89CDE1B3-53E6-7037-C0F7-17FB69078E16}"/>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0" name="Picture 9">
            <a:extLst>
              <a:ext uri="{FF2B5EF4-FFF2-40B4-BE49-F238E27FC236}">
                <a16:creationId xmlns:a16="http://schemas.microsoft.com/office/drawing/2014/main" id="{FCF35B60-7066-3672-3B15-9337A1F6AB5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16275018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1F52E-C209-E270-357B-2E280C58D45F}"/>
              </a:ext>
            </a:extLst>
          </p:cNvPr>
          <p:cNvSpPr>
            <a:spLocks noGrp="1"/>
          </p:cNvSpPr>
          <p:nvPr>
            <p:ph type="title" hasCustomPrompt="1"/>
          </p:nvPr>
        </p:nvSpPr>
        <p:spPr>
          <a:xfrm>
            <a:off x="766128" y="978408"/>
            <a:ext cx="3932237" cy="1138140"/>
          </a:xfrm>
        </p:spPr>
        <p:txBody>
          <a:bodyPr anchor="t" anchorCtr="0"/>
          <a:lstStyle>
            <a:lvl1pPr>
              <a:defRPr sz="3200">
                <a:solidFill>
                  <a:srgbClr val="00274C"/>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7168D9F4-5A6B-4C19-9877-314AD0479F29}"/>
              </a:ext>
            </a:extLst>
          </p:cNvPr>
          <p:cNvSpPr>
            <a:spLocks noGrp="1"/>
          </p:cNvSpPr>
          <p:nvPr>
            <p:ph type="pic" idx="1"/>
          </p:nvPr>
        </p:nvSpPr>
        <p:spPr>
          <a:xfrm>
            <a:off x="5230812"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EA3F2B-DBB8-66C2-E0AE-D44A3FD0DBC0}"/>
              </a:ext>
            </a:extLst>
          </p:cNvPr>
          <p:cNvSpPr>
            <a:spLocks noGrp="1"/>
          </p:cNvSpPr>
          <p:nvPr>
            <p:ph type="body" sz="half" idx="2" hasCustomPrompt="1"/>
          </p:nvPr>
        </p:nvSpPr>
        <p:spPr>
          <a:xfrm>
            <a:off x="787400" y="2116548"/>
            <a:ext cx="3910965" cy="3811588"/>
          </a:xfrm>
        </p:spPr>
        <p:txBody>
          <a:bodyPr/>
          <a:lstStyle>
            <a:lvl1pPr marL="174625" indent="-174625">
              <a:buFont typeface="Arial" panose="020B0604020202020204" pitchFamily="34" charset="0"/>
              <a:buChar char="•"/>
              <a:tabLst/>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8" name="TextBox 7">
            <a:extLst>
              <a:ext uri="{FF2B5EF4-FFF2-40B4-BE49-F238E27FC236}">
                <a16:creationId xmlns:a16="http://schemas.microsoft.com/office/drawing/2014/main" id="{B180B959-17B2-39C1-5092-25786D8A432D}"/>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9" name="TextBox 8">
            <a:extLst>
              <a:ext uri="{FF2B5EF4-FFF2-40B4-BE49-F238E27FC236}">
                <a16:creationId xmlns:a16="http://schemas.microsoft.com/office/drawing/2014/main" id="{3D4BBF76-40A9-5345-9428-13D684B07E36}"/>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0" name="Picture 9">
            <a:extLst>
              <a:ext uri="{FF2B5EF4-FFF2-40B4-BE49-F238E27FC236}">
                <a16:creationId xmlns:a16="http://schemas.microsoft.com/office/drawing/2014/main" id="{9227AEDE-3743-73AD-9E9F-8BBE0965280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Tree>
    <p:extLst>
      <p:ext uri="{BB962C8B-B14F-4D97-AF65-F5344CB8AC3E}">
        <p14:creationId xmlns:p14="http://schemas.microsoft.com/office/powerpoint/2010/main" val="739544898"/>
      </p:ext>
    </p:extLst>
  </p:cSld>
  <p:clrMapOvr>
    <a:masterClrMapping/>
  </p:clrMapOvr>
  <p:extLst>
    <p:ext uri="{DCECCB84-F9BA-43D5-87BE-67443E8EF086}">
      <p15:sldGuideLst xmlns:p15="http://schemas.microsoft.com/office/powerpoint/2012/main">
        <p15:guide id="2" orient="horz" pos="1437"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2 Pictures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1F52E-C209-E270-357B-2E280C58D45F}"/>
              </a:ext>
            </a:extLst>
          </p:cNvPr>
          <p:cNvSpPr>
            <a:spLocks noGrp="1"/>
          </p:cNvSpPr>
          <p:nvPr>
            <p:ph type="title" hasCustomPrompt="1"/>
          </p:nvPr>
        </p:nvSpPr>
        <p:spPr>
          <a:xfrm>
            <a:off x="766128" y="981188"/>
            <a:ext cx="5139852" cy="1115756"/>
          </a:xfrm>
        </p:spPr>
        <p:txBody>
          <a:bodyPr anchor="t" anchorCtr="0"/>
          <a:lstStyle>
            <a:lvl1pPr>
              <a:defRPr sz="3200">
                <a:solidFill>
                  <a:schemeClr val="tx2"/>
                </a:solidFill>
              </a:defRPr>
            </a:lvl1pPr>
          </a:lstStyle>
          <a:p>
            <a:r>
              <a:rPr lang="en-US"/>
              <a:t>Click to Edit </a:t>
            </a:r>
            <a:br>
              <a:rPr lang="en-US"/>
            </a:br>
            <a:r>
              <a:rPr lang="en-US"/>
              <a:t>Master Title Style</a:t>
            </a:r>
          </a:p>
        </p:txBody>
      </p:sp>
      <p:sp>
        <p:nvSpPr>
          <p:cNvPr id="3" name="Picture Placeholder 2">
            <a:extLst>
              <a:ext uri="{FF2B5EF4-FFF2-40B4-BE49-F238E27FC236}">
                <a16:creationId xmlns:a16="http://schemas.microsoft.com/office/drawing/2014/main" id="{7168D9F4-5A6B-4C19-9877-314AD0479F29}"/>
              </a:ext>
            </a:extLst>
          </p:cNvPr>
          <p:cNvSpPr>
            <a:spLocks noGrp="1"/>
          </p:cNvSpPr>
          <p:nvPr>
            <p:ph type="pic" idx="1"/>
          </p:nvPr>
        </p:nvSpPr>
        <p:spPr>
          <a:xfrm>
            <a:off x="6273801" y="3572540"/>
            <a:ext cx="5118100" cy="228851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EA3F2B-DBB8-66C2-E0AE-D44A3FD0DBC0}"/>
              </a:ext>
            </a:extLst>
          </p:cNvPr>
          <p:cNvSpPr>
            <a:spLocks noGrp="1"/>
          </p:cNvSpPr>
          <p:nvPr>
            <p:ph type="body" sz="half" idx="2" hasCustomPrompt="1"/>
          </p:nvPr>
        </p:nvSpPr>
        <p:spPr>
          <a:xfrm>
            <a:off x="788988" y="2115342"/>
            <a:ext cx="5116992" cy="1115756"/>
          </a:xfrm>
        </p:spPr>
        <p:txBody>
          <a:bodyPr/>
          <a:lstStyle>
            <a:lvl1pPr marL="174625" indent="-174625">
              <a:buFont typeface="Arial" panose="020B0604020202020204" pitchFamily="34" charset="0"/>
              <a:buChar char="•"/>
              <a:tabLst/>
              <a:defRPr sz="16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8" name="TextBox 7">
            <a:extLst>
              <a:ext uri="{FF2B5EF4-FFF2-40B4-BE49-F238E27FC236}">
                <a16:creationId xmlns:a16="http://schemas.microsoft.com/office/drawing/2014/main" id="{B180B959-17B2-39C1-5092-25786D8A432D}"/>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9" name="TextBox 8">
            <a:extLst>
              <a:ext uri="{FF2B5EF4-FFF2-40B4-BE49-F238E27FC236}">
                <a16:creationId xmlns:a16="http://schemas.microsoft.com/office/drawing/2014/main" id="{3D4BBF76-40A9-5345-9428-13D684B07E36}"/>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0" name="Picture 9">
            <a:extLst>
              <a:ext uri="{FF2B5EF4-FFF2-40B4-BE49-F238E27FC236}">
                <a16:creationId xmlns:a16="http://schemas.microsoft.com/office/drawing/2014/main" id="{9227AEDE-3743-73AD-9E9F-8BBE0965280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
        <p:nvSpPr>
          <p:cNvPr id="11" name="Picture Placeholder 2">
            <a:extLst>
              <a:ext uri="{FF2B5EF4-FFF2-40B4-BE49-F238E27FC236}">
                <a16:creationId xmlns:a16="http://schemas.microsoft.com/office/drawing/2014/main" id="{5437F607-60F9-A4D0-D732-3E4F8F00B158}"/>
              </a:ext>
            </a:extLst>
          </p:cNvPr>
          <p:cNvSpPr>
            <a:spLocks noGrp="1"/>
          </p:cNvSpPr>
          <p:nvPr>
            <p:ph type="pic" idx="10"/>
          </p:nvPr>
        </p:nvSpPr>
        <p:spPr>
          <a:xfrm>
            <a:off x="6286022" y="1029956"/>
            <a:ext cx="5105878" cy="228273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Tree>
    <p:extLst>
      <p:ext uri="{BB962C8B-B14F-4D97-AF65-F5344CB8AC3E}">
        <p14:creationId xmlns:p14="http://schemas.microsoft.com/office/powerpoint/2010/main" val="3587652274"/>
      </p:ext>
    </p:extLst>
  </p:cSld>
  <p:clrMapOvr>
    <a:masterClrMapping/>
  </p:clrMapOvr>
  <p:extLst>
    <p:ext uri="{DCECCB84-F9BA-43D5-87BE-67443E8EF086}">
      <p15:sldGuideLst xmlns:p15="http://schemas.microsoft.com/office/powerpoint/2012/main">
        <p15:guide id="2" orient="horz" pos="1437"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 Pictures with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1F52E-C209-E270-357B-2E280C58D45F}"/>
              </a:ext>
            </a:extLst>
          </p:cNvPr>
          <p:cNvSpPr>
            <a:spLocks noGrp="1"/>
          </p:cNvSpPr>
          <p:nvPr>
            <p:ph type="title" hasCustomPrompt="1"/>
          </p:nvPr>
        </p:nvSpPr>
        <p:spPr>
          <a:xfrm>
            <a:off x="766127" y="979932"/>
            <a:ext cx="10625773" cy="734882"/>
          </a:xfrm>
        </p:spPr>
        <p:txBody>
          <a:bodyPr anchor="t" anchorCtr="0"/>
          <a:lstStyle>
            <a:lvl1pPr>
              <a:defRPr sz="3200">
                <a:solidFill>
                  <a:schemeClr val="tx2"/>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7168D9F4-5A6B-4C19-9877-314AD0479F29}"/>
              </a:ext>
            </a:extLst>
          </p:cNvPr>
          <p:cNvSpPr>
            <a:spLocks noGrp="1"/>
          </p:cNvSpPr>
          <p:nvPr>
            <p:ph type="pic" idx="1"/>
          </p:nvPr>
        </p:nvSpPr>
        <p:spPr>
          <a:xfrm>
            <a:off x="788987" y="1772922"/>
            <a:ext cx="3434965" cy="228851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EA3F2B-DBB8-66C2-E0AE-D44A3FD0DBC0}"/>
              </a:ext>
            </a:extLst>
          </p:cNvPr>
          <p:cNvSpPr>
            <a:spLocks noGrp="1"/>
          </p:cNvSpPr>
          <p:nvPr>
            <p:ph type="body" sz="half" idx="2" hasCustomPrompt="1"/>
          </p:nvPr>
        </p:nvSpPr>
        <p:spPr>
          <a:xfrm>
            <a:off x="800853" y="4251730"/>
            <a:ext cx="3423100" cy="309637"/>
          </a:xfrm>
        </p:spPr>
        <p:txBody>
          <a:bodyPr/>
          <a:lstStyle>
            <a:lvl1pPr marL="0" indent="0">
              <a:buFontTx/>
              <a:buNone/>
              <a:defRPr sz="1600" b="1" i="0">
                <a:solidFill>
                  <a:schemeClr val="tx2"/>
                </a:solidFill>
                <a:latin typeface="Montserrat ExtraBold"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8" name="TextBox 7">
            <a:extLst>
              <a:ext uri="{FF2B5EF4-FFF2-40B4-BE49-F238E27FC236}">
                <a16:creationId xmlns:a16="http://schemas.microsoft.com/office/drawing/2014/main" id="{B180B959-17B2-39C1-5092-25786D8A432D}"/>
              </a:ext>
            </a:extLst>
          </p:cNvPr>
          <p:cNvSpPr txBox="1"/>
          <p:nvPr userDrawn="1"/>
        </p:nvSpPr>
        <p:spPr>
          <a:xfrm>
            <a:off x="788988" y="6416636"/>
            <a:ext cx="45720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C9A3FE-C58D-4546-9D1A-47F1990EB4F6}" type="slidenum">
              <a:rPr lang="en-US" sz="1400" b="1" i="0" smtClean="0">
                <a:solidFill>
                  <a:schemeClr val="tx2"/>
                </a:solidFill>
                <a:latin typeface="Montserrat SemiBold" pitchFamily="2" charset="77"/>
              </a:rPr>
              <a:pPr marL="0" marR="0" lvl="0" indent="0" algn="l" defTabSz="914400" rtl="0" eaLnBrk="1" fontAlgn="auto" latinLnBrk="0" hangingPunct="1">
                <a:lnSpc>
                  <a:spcPct val="100000"/>
                </a:lnSpc>
                <a:spcBef>
                  <a:spcPts val="0"/>
                </a:spcBef>
                <a:spcAft>
                  <a:spcPts val="0"/>
                </a:spcAft>
                <a:buClrTx/>
                <a:buSzTx/>
                <a:buFontTx/>
                <a:buNone/>
                <a:tabLst/>
                <a:defRPr/>
              </a:pPr>
              <a:t>‹#›</a:t>
            </a:fld>
            <a:endParaRPr lang="en-US" sz="1000" b="0" i="0">
              <a:solidFill>
                <a:schemeClr val="tx2"/>
              </a:solidFill>
              <a:latin typeface="Montserrat" pitchFamily="2" charset="77"/>
            </a:endParaRPr>
          </a:p>
        </p:txBody>
      </p:sp>
      <p:sp>
        <p:nvSpPr>
          <p:cNvPr id="9" name="TextBox 8">
            <a:extLst>
              <a:ext uri="{FF2B5EF4-FFF2-40B4-BE49-F238E27FC236}">
                <a16:creationId xmlns:a16="http://schemas.microsoft.com/office/drawing/2014/main" id="{3D4BBF76-40A9-5345-9428-13D684B07E36}"/>
              </a:ext>
            </a:extLst>
          </p:cNvPr>
          <p:cNvSpPr txBox="1"/>
          <p:nvPr userDrawn="1"/>
        </p:nvSpPr>
        <p:spPr>
          <a:xfrm>
            <a:off x="1417638" y="6462356"/>
            <a:ext cx="2532358" cy="15388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tx2"/>
                </a:solidFill>
                <a:latin typeface="Montserrat" pitchFamily="2" charset="77"/>
              </a:rPr>
              <a:t>©2026 CSI. All Rights Reserved</a:t>
            </a:r>
          </a:p>
        </p:txBody>
      </p:sp>
      <p:pic>
        <p:nvPicPr>
          <p:cNvPr id="10" name="Picture 9">
            <a:extLst>
              <a:ext uri="{FF2B5EF4-FFF2-40B4-BE49-F238E27FC236}">
                <a16:creationId xmlns:a16="http://schemas.microsoft.com/office/drawing/2014/main" id="{9227AEDE-3743-73AD-9E9F-8BBE0965280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54119" y="6120904"/>
            <a:ext cx="1257870" cy="737096"/>
          </a:xfrm>
          <a:prstGeom prst="rect">
            <a:avLst/>
          </a:prstGeom>
        </p:spPr>
      </p:pic>
      <p:sp>
        <p:nvSpPr>
          <p:cNvPr id="12" name="Picture Placeholder 2">
            <a:extLst>
              <a:ext uri="{FF2B5EF4-FFF2-40B4-BE49-F238E27FC236}">
                <a16:creationId xmlns:a16="http://schemas.microsoft.com/office/drawing/2014/main" id="{E76CFDD9-DBC7-2D68-7ACF-0318AA3BF045}"/>
              </a:ext>
            </a:extLst>
          </p:cNvPr>
          <p:cNvSpPr>
            <a:spLocks noGrp="1"/>
          </p:cNvSpPr>
          <p:nvPr>
            <p:ph type="pic" idx="13"/>
          </p:nvPr>
        </p:nvSpPr>
        <p:spPr>
          <a:xfrm>
            <a:off x="4381523" y="1772922"/>
            <a:ext cx="3434964" cy="228851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3" name="Picture Placeholder 2">
            <a:extLst>
              <a:ext uri="{FF2B5EF4-FFF2-40B4-BE49-F238E27FC236}">
                <a16:creationId xmlns:a16="http://schemas.microsoft.com/office/drawing/2014/main" id="{AA41F9DE-2499-49A3-7D06-72DCFB636DDF}"/>
              </a:ext>
            </a:extLst>
          </p:cNvPr>
          <p:cNvSpPr>
            <a:spLocks noGrp="1"/>
          </p:cNvSpPr>
          <p:nvPr>
            <p:ph type="pic" idx="14"/>
          </p:nvPr>
        </p:nvSpPr>
        <p:spPr>
          <a:xfrm>
            <a:off x="7974059" y="1772922"/>
            <a:ext cx="3424044" cy="228851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4" name="Text Placeholder 3">
            <a:extLst>
              <a:ext uri="{FF2B5EF4-FFF2-40B4-BE49-F238E27FC236}">
                <a16:creationId xmlns:a16="http://schemas.microsoft.com/office/drawing/2014/main" id="{7756DCD9-5331-4644-4682-A05CAF6D5697}"/>
              </a:ext>
            </a:extLst>
          </p:cNvPr>
          <p:cNvSpPr>
            <a:spLocks noGrp="1"/>
          </p:cNvSpPr>
          <p:nvPr>
            <p:ph type="body" sz="half" idx="15" hasCustomPrompt="1"/>
          </p:nvPr>
        </p:nvSpPr>
        <p:spPr>
          <a:xfrm>
            <a:off x="800853" y="4570707"/>
            <a:ext cx="3423100" cy="309637"/>
          </a:xfrm>
        </p:spPr>
        <p:txBody>
          <a:bodyPr>
            <a:normAutofit/>
          </a:bodyPr>
          <a:lstStyle>
            <a:lvl1pPr marL="174625" indent="-174625">
              <a:lnSpc>
                <a:spcPct val="100000"/>
              </a:lnSpc>
              <a:spcBef>
                <a:spcPts val="0"/>
              </a:spcBef>
              <a:spcAft>
                <a:spcPts val="400"/>
              </a:spcAft>
              <a:buClr>
                <a:schemeClr val="tx2"/>
              </a:buClr>
              <a:buFont typeface="Arial" panose="020B0604020202020204" pitchFamily="34" charset="0"/>
              <a:buChar char="•"/>
              <a:tabLst/>
              <a:defRPr sz="1400" b="0" i="0">
                <a:solidFill>
                  <a:schemeClr val="tx2"/>
                </a:solidFill>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15" name="Text Placeholder 3">
            <a:extLst>
              <a:ext uri="{FF2B5EF4-FFF2-40B4-BE49-F238E27FC236}">
                <a16:creationId xmlns:a16="http://schemas.microsoft.com/office/drawing/2014/main" id="{E66FF04C-0264-B7CD-9979-02CF51187AB8}"/>
              </a:ext>
            </a:extLst>
          </p:cNvPr>
          <p:cNvSpPr>
            <a:spLocks noGrp="1"/>
          </p:cNvSpPr>
          <p:nvPr>
            <p:ph type="body" sz="half" idx="16" hasCustomPrompt="1"/>
          </p:nvPr>
        </p:nvSpPr>
        <p:spPr>
          <a:xfrm>
            <a:off x="4380255" y="4251730"/>
            <a:ext cx="3423100" cy="309637"/>
          </a:xfrm>
        </p:spPr>
        <p:txBody>
          <a:bodyPr/>
          <a:lstStyle>
            <a:lvl1pPr marL="0" indent="0">
              <a:buFontTx/>
              <a:buNone/>
              <a:defRPr sz="1600" b="1" i="0">
                <a:solidFill>
                  <a:schemeClr val="tx2"/>
                </a:solidFill>
                <a:latin typeface="Montserrat ExtraBold"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16" name="Text Placeholder 3">
            <a:extLst>
              <a:ext uri="{FF2B5EF4-FFF2-40B4-BE49-F238E27FC236}">
                <a16:creationId xmlns:a16="http://schemas.microsoft.com/office/drawing/2014/main" id="{D1AFFD23-3836-1B71-0C34-C530B77AA9C4}"/>
              </a:ext>
            </a:extLst>
          </p:cNvPr>
          <p:cNvSpPr>
            <a:spLocks noGrp="1"/>
          </p:cNvSpPr>
          <p:nvPr>
            <p:ph type="body" sz="half" idx="17" hasCustomPrompt="1"/>
          </p:nvPr>
        </p:nvSpPr>
        <p:spPr>
          <a:xfrm>
            <a:off x="4380255" y="4570707"/>
            <a:ext cx="3423100" cy="309637"/>
          </a:xfrm>
        </p:spPr>
        <p:txBody>
          <a:bodyPr>
            <a:normAutofit/>
          </a:bodyPr>
          <a:lstStyle>
            <a:lvl1pPr marL="174625" indent="-174625">
              <a:lnSpc>
                <a:spcPct val="100000"/>
              </a:lnSpc>
              <a:spcBef>
                <a:spcPts val="0"/>
              </a:spcBef>
              <a:spcAft>
                <a:spcPts val="400"/>
              </a:spcAft>
              <a:buClr>
                <a:schemeClr val="tx2"/>
              </a:buClr>
              <a:buFont typeface="Arial" panose="020B0604020202020204" pitchFamily="34" charset="0"/>
              <a:buChar char="•"/>
              <a:tabLst/>
              <a:defRPr sz="1400" b="0" i="0">
                <a:solidFill>
                  <a:schemeClr val="tx2"/>
                </a:solidFill>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17" name="Text Placeholder 3">
            <a:extLst>
              <a:ext uri="{FF2B5EF4-FFF2-40B4-BE49-F238E27FC236}">
                <a16:creationId xmlns:a16="http://schemas.microsoft.com/office/drawing/2014/main" id="{0D944E00-C64F-FC0F-A3CA-49848E0E098B}"/>
              </a:ext>
            </a:extLst>
          </p:cNvPr>
          <p:cNvSpPr>
            <a:spLocks noGrp="1"/>
          </p:cNvSpPr>
          <p:nvPr>
            <p:ph type="body" sz="half" idx="18" hasCustomPrompt="1"/>
          </p:nvPr>
        </p:nvSpPr>
        <p:spPr>
          <a:xfrm>
            <a:off x="7974059" y="4251730"/>
            <a:ext cx="3423100" cy="309637"/>
          </a:xfrm>
        </p:spPr>
        <p:txBody>
          <a:bodyPr/>
          <a:lstStyle>
            <a:lvl1pPr marL="0" indent="0">
              <a:buFontTx/>
              <a:buNone/>
              <a:defRPr sz="1600" b="1" i="0">
                <a:solidFill>
                  <a:schemeClr val="tx2"/>
                </a:solidFill>
                <a:latin typeface="Montserrat ExtraBold"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
        <p:nvSpPr>
          <p:cNvPr id="18" name="Text Placeholder 3">
            <a:extLst>
              <a:ext uri="{FF2B5EF4-FFF2-40B4-BE49-F238E27FC236}">
                <a16:creationId xmlns:a16="http://schemas.microsoft.com/office/drawing/2014/main" id="{7DA8A6F9-EEA6-B500-C9F9-7FF126F8C968}"/>
              </a:ext>
            </a:extLst>
          </p:cNvPr>
          <p:cNvSpPr>
            <a:spLocks noGrp="1"/>
          </p:cNvSpPr>
          <p:nvPr>
            <p:ph type="body" sz="half" idx="19" hasCustomPrompt="1"/>
          </p:nvPr>
        </p:nvSpPr>
        <p:spPr>
          <a:xfrm>
            <a:off x="7974059" y="4570707"/>
            <a:ext cx="3423100" cy="309637"/>
          </a:xfrm>
        </p:spPr>
        <p:txBody>
          <a:bodyPr>
            <a:normAutofit/>
          </a:bodyPr>
          <a:lstStyle>
            <a:lvl1pPr marL="174625" indent="-174625">
              <a:lnSpc>
                <a:spcPct val="100000"/>
              </a:lnSpc>
              <a:spcBef>
                <a:spcPts val="0"/>
              </a:spcBef>
              <a:spcAft>
                <a:spcPts val="400"/>
              </a:spcAft>
              <a:buClr>
                <a:schemeClr val="tx2"/>
              </a:buClr>
              <a:buFont typeface="Arial" panose="020B0604020202020204" pitchFamily="34" charset="0"/>
              <a:buChar char="•"/>
              <a:tabLst/>
              <a:defRPr sz="1400" b="0" i="0">
                <a:solidFill>
                  <a:schemeClr val="tx2"/>
                </a:solidFill>
                <a:latin typeface="Montserrat"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a:t>
            </a:r>
          </a:p>
        </p:txBody>
      </p:sp>
    </p:spTree>
    <p:extLst>
      <p:ext uri="{BB962C8B-B14F-4D97-AF65-F5344CB8AC3E}">
        <p14:creationId xmlns:p14="http://schemas.microsoft.com/office/powerpoint/2010/main" val="1526870934"/>
      </p:ext>
    </p:extLst>
  </p:cSld>
  <p:clrMapOvr>
    <a:masterClrMapping/>
  </p:clrMapOvr>
  <p:extLst>
    <p:ext uri="{DCECCB84-F9BA-43D5-87BE-67443E8EF086}">
      <p15:sldGuideLst xmlns:p15="http://schemas.microsoft.com/office/powerpoint/2012/main">
        <p15:guide id="1" orient="horz" pos="648" userDrawn="1">
          <p15:clr>
            <a:srgbClr val="FBAE40"/>
          </p15:clr>
        </p15:guide>
        <p15:guide id="2" orient="horz" pos="14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88988" y="721982"/>
            <a:ext cx="10756836" cy="1338466"/>
          </a:xfrm>
        </p:spPr>
        <p:txBody>
          <a:bodyPr/>
          <a:lstStyle>
            <a:lvl1pPr>
              <a:defRPr spc="-50" baseline="0">
                <a:solidFill>
                  <a:schemeClr val="tx2"/>
                </a:solidFill>
              </a:defRPr>
            </a:lvl1pPr>
          </a:lstStyle>
          <a:p>
            <a:r>
              <a:rPr lang="en-US"/>
              <a:t>CLICK TO EDIT MASTER TITLE STYLE</a:t>
            </a:r>
          </a:p>
        </p:txBody>
      </p:sp>
    </p:spTree>
    <p:extLst>
      <p:ext uri="{BB962C8B-B14F-4D97-AF65-F5344CB8AC3E}">
        <p14:creationId xmlns:p14="http://schemas.microsoft.com/office/powerpoint/2010/main" val="3494680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_RP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1B05F-027C-3F55-54CD-69C6DDB46B0A}"/>
              </a:ext>
            </a:extLst>
          </p:cNvPr>
          <p:cNvSpPr>
            <a:spLocks noGrp="1"/>
          </p:cNvSpPr>
          <p:nvPr>
            <p:ph type="ctrTitle" hasCustomPrompt="1"/>
          </p:nvPr>
        </p:nvSpPr>
        <p:spPr>
          <a:xfrm>
            <a:off x="1189059" y="1122363"/>
            <a:ext cx="10537804" cy="3410560"/>
          </a:xfrm>
        </p:spPr>
        <p:txBody>
          <a:bodyPr anchor="t">
            <a:noAutofit/>
          </a:bodyPr>
          <a:lstStyle>
            <a:lvl1pPr algn="l">
              <a:lnSpc>
                <a:spcPts val="8500"/>
              </a:lnSpc>
              <a:defRPr sz="8800" spc="-150">
                <a:solidFill>
                  <a:schemeClr val="bg1"/>
                </a:solidFill>
              </a:defRPr>
            </a:lvl1pPr>
          </a:lstStyle>
          <a:p>
            <a:r>
              <a:rPr lang="en-US" dirty="0">
                <a:solidFill>
                  <a:srgbClr val="F8971D"/>
                </a:solidFill>
              </a:rPr>
              <a:t>R</a:t>
            </a:r>
            <a:r>
              <a:rPr lang="en-US" dirty="0"/>
              <a:t>etail</a:t>
            </a:r>
            <a:br>
              <a:rPr lang="en-US" dirty="0"/>
            </a:br>
            <a:r>
              <a:rPr lang="en-US" dirty="0">
                <a:solidFill>
                  <a:srgbClr val="F8971D"/>
                </a:solidFill>
              </a:rPr>
              <a:t>P</a:t>
            </a:r>
            <a:r>
              <a:rPr lang="en-US" dirty="0"/>
              <a:t>erformance</a:t>
            </a:r>
            <a:br>
              <a:rPr lang="en-US" dirty="0"/>
            </a:br>
            <a:r>
              <a:rPr lang="en-US" dirty="0">
                <a:solidFill>
                  <a:srgbClr val="F8971D"/>
                </a:solidFill>
              </a:rPr>
              <a:t>E</a:t>
            </a:r>
            <a:r>
              <a:rPr lang="en-US" dirty="0"/>
              <a:t>ngine</a:t>
            </a:r>
          </a:p>
        </p:txBody>
      </p:sp>
      <p:sp>
        <p:nvSpPr>
          <p:cNvPr id="3" name="Subtitle 2">
            <a:extLst>
              <a:ext uri="{FF2B5EF4-FFF2-40B4-BE49-F238E27FC236}">
                <a16:creationId xmlns:a16="http://schemas.microsoft.com/office/drawing/2014/main" id="{78D283AD-6372-B546-4F85-318DE6EEDCAF}"/>
              </a:ext>
            </a:extLst>
          </p:cNvPr>
          <p:cNvSpPr>
            <a:spLocks noGrp="1"/>
          </p:cNvSpPr>
          <p:nvPr>
            <p:ph type="subTitle" idx="1" hasCustomPrompt="1"/>
          </p:nvPr>
        </p:nvSpPr>
        <p:spPr>
          <a:xfrm>
            <a:off x="1285712" y="6350487"/>
            <a:ext cx="10134601" cy="40982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6" name="Picture 5">
            <a:extLst>
              <a:ext uri="{FF2B5EF4-FFF2-40B4-BE49-F238E27FC236}">
                <a16:creationId xmlns:a16="http://schemas.microsoft.com/office/drawing/2014/main" id="{8985BFFC-1E54-050A-66BC-4C794FAD44C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6108" y="6125481"/>
            <a:ext cx="1265881" cy="737095"/>
          </a:xfrm>
          <a:prstGeom prst="rect">
            <a:avLst/>
          </a:prstGeom>
        </p:spPr>
      </p:pic>
      <p:sp>
        <p:nvSpPr>
          <p:cNvPr id="10" name="Rectangle 9">
            <a:extLst>
              <a:ext uri="{FF2B5EF4-FFF2-40B4-BE49-F238E27FC236}">
                <a16:creationId xmlns:a16="http://schemas.microsoft.com/office/drawing/2014/main" id="{1BAC5A45-3D11-1E15-B8DB-E264584D3295}"/>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03939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2613" userDrawn="1">
          <p15:clr>
            <a:srgbClr val="FBAE40"/>
          </p15:clr>
        </p15:guide>
        <p15:guide id="3" orient="horz" pos="1212"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Title Slide_ARS">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1B05F-027C-3F55-54CD-69C6DDB46B0A}"/>
              </a:ext>
            </a:extLst>
          </p:cNvPr>
          <p:cNvSpPr>
            <a:spLocks noGrp="1"/>
          </p:cNvSpPr>
          <p:nvPr>
            <p:ph type="ctrTitle" hasCustomPrompt="1"/>
          </p:nvPr>
        </p:nvSpPr>
        <p:spPr>
          <a:xfrm>
            <a:off x="1189059" y="1122363"/>
            <a:ext cx="10537804" cy="3410560"/>
          </a:xfrm>
        </p:spPr>
        <p:txBody>
          <a:bodyPr anchor="t">
            <a:noAutofit/>
          </a:bodyPr>
          <a:lstStyle>
            <a:lvl1pPr algn="l">
              <a:lnSpc>
                <a:spcPts val="8500"/>
              </a:lnSpc>
              <a:defRPr sz="8800" spc="-150">
                <a:solidFill>
                  <a:schemeClr val="bg1"/>
                </a:solidFill>
              </a:defRPr>
            </a:lvl1pPr>
          </a:lstStyle>
          <a:p>
            <a:r>
              <a:rPr lang="en-US" dirty="0">
                <a:solidFill>
                  <a:srgbClr val="F8971D"/>
                </a:solidFill>
              </a:rPr>
              <a:t>A</a:t>
            </a:r>
            <a:r>
              <a:rPr lang="en-US" dirty="0"/>
              <a:t>ccount </a:t>
            </a:r>
            <a:br>
              <a:rPr lang="en-US" dirty="0"/>
            </a:br>
            <a:r>
              <a:rPr lang="en-US" dirty="0">
                <a:solidFill>
                  <a:srgbClr val="F8971D"/>
                </a:solidFill>
              </a:rPr>
              <a:t>R</a:t>
            </a:r>
            <a:r>
              <a:rPr lang="en-US" dirty="0"/>
              <a:t>evenue</a:t>
            </a:r>
            <a:br>
              <a:rPr lang="en-US" dirty="0"/>
            </a:br>
            <a:r>
              <a:rPr lang="en-US" dirty="0">
                <a:solidFill>
                  <a:srgbClr val="F8971D"/>
                </a:solidFill>
              </a:rPr>
              <a:t>S</a:t>
            </a:r>
            <a:r>
              <a:rPr lang="en-US" dirty="0"/>
              <a:t>olution</a:t>
            </a:r>
          </a:p>
        </p:txBody>
      </p:sp>
      <p:sp>
        <p:nvSpPr>
          <p:cNvPr id="3" name="Subtitle 2">
            <a:extLst>
              <a:ext uri="{FF2B5EF4-FFF2-40B4-BE49-F238E27FC236}">
                <a16:creationId xmlns:a16="http://schemas.microsoft.com/office/drawing/2014/main" id="{78D283AD-6372-B546-4F85-318DE6EEDCAF}"/>
              </a:ext>
            </a:extLst>
          </p:cNvPr>
          <p:cNvSpPr>
            <a:spLocks noGrp="1"/>
          </p:cNvSpPr>
          <p:nvPr>
            <p:ph type="subTitle" idx="1" hasCustomPrompt="1"/>
          </p:nvPr>
        </p:nvSpPr>
        <p:spPr>
          <a:xfrm>
            <a:off x="1285712" y="6350487"/>
            <a:ext cx="10134601" cy="40982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6" name="Picture 5">
            <a:extLst>
              <a:ext uri="{FF2B5EF4-FFF2-40B4-BE49-F238E27FC236}">
                <a16:creationId xmlns:a16="http://schemas.microsoft.com/office/drawing/2014/main" id="{8985BFFC-1E54-050A-66BC-4C794FAD44C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6108" y="6125481"/>
            <a:ext cx="1265881" cy="737095"/>
          </a:xfrm>
          <a:prstGeom prst="rect">
            <a:avLst/>
          </a:prstGeom>
        </p:spPr>
      </p:pic>
      <p:sp>
        <p:nvSpPr>
          <p:cNvPr id="10" name="Rectangle 9">
            <a:extLst>
              <a:ext uri="{FF2B5EF4-FFF2-40B4-BE49-F238E27FC236}">
                <a16:creationId xmlns:a16="http://schemas.microsoft.com/office/drawing/2014/main" id="{1BAC5A45-3D11-1E15-B8DB-E264584D3295}"/>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53827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2613" userDrawn="1">
          <p15:clr>
            <a:srgbClr val="FBAE40"/>
          </p15:clr>
        </p15:guide>
        <p15:guide id="3" orient="horz" pos="1212"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5_Title Slide_ICS">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1B05F-027C-3F55-54CD-69C6DDB46B0A}"/>
              </a:ext>
            </a:extLst>
          </p:cNvPr>
          <p:cNvSpPr>
            <a:spLocks noGrp="1"/>
          </p:cNvSpPr>
          <p:nvPr>
            <p:ph type="ctrTitle" hasCustomPrompt="1"/>
          </p:nvPr>
        </p:nvSpPr>
        <p:spPr>
          <a:xfrm>
            <a:off x="1189059" y="1122363"/>
            <a:ext cx="10537804" cy="3410560"/>
          </a:xfrm>
        </p:spPr>
        <p:txBody>
          <a:bodyPr anchor="t">
            <a:noAutofit/>
          </a:bodyPr>
          <a:lstStyle>
            <a:lvl1pPr algn="l">
              <a:lnSpc>
                <a:spcPts val="8500"/>
              </a:lnSpc>
              <a:defRPr sz="8800" spc="-150">
                <a:solidFill>
                  <a:schemeClr val="bg1"/>
                </a:solidFill>
              </a:defRPr>
            </a:lvl1pPr>
          </a:lstStyle>
          <a:p>
            <a:r>
              <a:rPr lang="en-US" dirty="0">
                <a:solidFill>
                  <a:srgbClr val="F8971D"/>
                </a:solidFill>
              </a:rPr>
              <a:t>I</a:t>
            </a:r>
            <a:r>
              <a:rPr lang="en-US" dirty="0"/>
              <a:t>nvitation</a:t>
            </a:r>
            <a:br>
              <a:rPr lang="en-US" dirty="0"/>
            </a:br>
            <a:r>
              <a:rPr lang="en-US" dirty="0">
                <a:solidFill>
                  <a:srgbClr val="F8971D"/>
                </a:solidFill>
              </a:rPr>
              <a:t>C</a:t>
            </a:r>
            <a:r>
              <a:rPr lang="en-US" dirty="0"/>
              <a:t>hecking</a:t>
            </a:r>
            <a:br>
              <a:rPr lang="en-US" dirty="0"/>
            </a:br>
            <a:r>
              <a:rPr lang="en-US" dirty="0">
                <a:solidFill>
                  <a:srgbClr val="F8971D"/>
                </a:solidFill>
              </a:rPr>
              <a:t>S</a:t>
            </a:r>
            <a:r>
              <a:rPr lang="en-US" dirty="0"/>
              <a:t>ystem</a:t>
            </a:r>
          </a:p>
        </p:txBody>
      </p:sp>
      <p:sp>
        <p:nvSpPr>
          <p:cNvPr id="3" name="Subtitle 2">
            <a:extLst>
              <a:ext uri="{FF2B5EF4-FFF2-40B4-BE49-F238E27FC236}">
                <a16:creationId xmlns:a16="http://schemas.microsoft.com/office/drawing/2014/main" id="{78D283AD-6372-B546-4F85-318DE6EEDCAF}"/>
              </a:ext>
            </a:extLst>
          </p:cNvPr>
          <p:cNvSpPr>
            <a:spLocks noGrp="1"/>
          </p:cNvSpPr>
          <p:nvPr>
            <p:ph type="subTitle" idx="1" hasCustomPrompt="1"/>
          </p:nvPr>
        </p:nvSpPr>
        <p:spPr>
          <a:xfrm>
            <a:off x="1285712" y="6350487"/>
            <a:ext cx="10134601" cy="40982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6" name="Picture 5">
            <a:extLst>
              <a:ext uri="{FF2B5EF4-FFF2-40B4-BE49-F238E27FC236}">
                <a16:creationId xmlns:a16="http://schemas.microsoft.com/office/drawing/2014/main" id="{8985BFFC-1E54-050A-66BC-4C794FAD44C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846108" y="6125481"/>
            <a:ext cx="1265881" cy="737095"/>
          </a:xfrm>
          <a:prstGeom prst="rect">
            <a:avLst/>
          </a:prstGeom>
        </p:spPr>
      </p:pic>
      <p:sp>
        <p:nvSpPr>
          <p:cNvPr id="10" name="Rectangle 9">
            <a:extLst>
              <a:ext uri="{FF2B5EF4-FFF2-40B4-BE49-F238E27FC236}">
                <a16:creationId xmlns:a16="http://schemas.microsoft.com/office/drawing/2014/main" id="{1BAC5A45-3D11-1E15-B8DB-E264584D3295}"/>
              </a:ext>
            </a:extLst>
          </p:cNvPr>
          <p:cNvSpPr/>
          <p:nvPr userDrawn="1"/>
        </p:nvSpPr>
        <p:spPr>
          <a:xfrm>
            <a:off x="0" y="0"/>
            <a:ext cx="457200" cy="6858000"/>
          </a:xfrm>
          <a:prstGeom prst="rect">
            <a:avLst/>
          </a:prstGeom>
          <a:gradFill>
            <a:gsLst>
              <a:gs pos="100000">
                <a:schemeClr val="accent2"/>
              </a:gs>
              <a:gs pos="0">
                <a:schemeClr val="accent3"/>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45252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2613" userDrawn="1">
          <p15:clr>
            <a:srgbClr val="FBAE40"/>
          </p15:clr>
        </p15:guide>
        <p15:guide id="3" orient="horz" pos="1212"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A11581-9BE5-69CD-2E9B-65456CE9B686}"/>
              </a:ext>
            </a:extLst>
          </p:cNvPr>
          <p:cNvSpPr>
            <a:spLocks noGrp="1"/>
          </p:cNvSpPr>
          <p:nvPr>
            <p:ph type="title"/>
          </p:nvPr>
        </p:nvSpPr>
        <p:spPr>
          <a:xfrm>
            <a:off x="788988" y="721982"/>
            <a:ext cx="10602912" cy="697386"/>
          </a:xfrm>
          <a:prstGeom prst="rect">
            <a:avLst/>
          </a:prstGeom>
        </p:spPr>
        <p:txBody>
          <a:bodyPr vert="horz" lIns="0" tIns="0" rIns="0" bIns="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86525387-BE89-357B-55FE-551E5442445E}"/>
              </a:ext>
            </a:extLst>
          </p:cNvPr>
          <p:cNvSpPr>
            <a:spLocks noGrp="1"/>
          </p:cNvSpPr>
          <p:nvPr>
            <p:ph type="body" idx="1"/>
          </p:nvPr>
        </p:nvSpPr>
        <p:spPr>
          <a:xfrm>
            <a:off x="788988" y="1825625"/>
            <a:ext cx="10602912" cy="4351338"/>
          </a:xfrm>
          <a:prstGeom prst="rect">
            <a:avLst/>
          </a:prstGeom>
        </p:spPr>
        <p:txBody>
          <a:bodyPr vert="horz" lIns="0" tIns="0" rIns="0" bIns="0" rtlCol="0">
            <a:normAutofit/>
          </a:body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6684151"/>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5" r:id="rId3"/>
    <p:sldLayoutId id="2147483661" r:id="rId4"/>
    <p:sldLayoutId id="2147483666" r:id="rId5"/>
    <p:sldLayoutId id="2147483670" r:id="rId6"/>
    <p:sldLayoutId id="2147483667" r:id="rId7"/>
    <p:sldLayoutId id="2147483664" r:id="rId8"/>
    <p:sldLayoutId id="2147483663" r:id="rId9"/>
    <p:sldLayoutId id="2147483652" r:id="rId10"/>
    <p:sldLayoutId id="2147483653" r:id="rId11"/>
    <p:sldLayoutId id="2147483655" r:id="rId12"/>
    <p:sldLayoutId id="2147483656" r:id="rId13"/>
    <p:sldLayoutId id="2147483671" r:id="rId14"/>
    <p:sldLayoutId id="2147483657" r:id="rId15"/>
    <p:sldLayoutId id="2147483672" r:id="rId16"/>
    <p:sldLayoutId id="2147483673" r:id="rId17"/>
    <p:sldLayoutId id="2147483674" r:id="rId18"/>
    <p:sldLayoutId id="2147483677" r:id="rId19"/>
    <p:sldLayoutId id="2147483678" r:id="rId20"/>
  </p:sldLayoutIdLst>
  <p:hf hdr="0" dt="0"/>
  <p:txStyles>
    <p:titleStyle>
      <a:lvl1pPr algn="l" defTabSz="914400" rtl="0" eaLnBrk="1" latinLnBrk="0" hangingPunct="1">
        <a:lnSpc>
          <a:spcPct val="90000"/>
        </a:lnSpc>
        <a:spcBef>
          <a:spcPct val="0"/>
        </a:spcBef>
        <a:buNone/>
        <a:defRPr sz="4400" b="1" i="0" kern="1200">
          <a:solidFill>
            <a:srgbClr val="00274C"/>
          </a:solidFill>
          <a:latin typeface="Montserrat ExtraBold"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ontserra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ontserra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ontserrat"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7176" userDrawn="1">
          <p15:clr>
            <a:srgbClr val="F26B43"/>
          </p15:clr>
        </p15:guide>
        <p15:guide id="3" pos="497" userDrawn="1">
          <p15:clr>
            <a:srgbClr val="F26B43"/>
          </p15:clr>
        </p15:guide>
        <p15:guide id="6" pos="281" userDrawn="1">
          <p15:clr>
            <a:srgbClr val="F26B43"/>
          </p15:clr>
        </p15:guide>
        <p15:guide id="7" pos="7387" userDrawn="1">
          <p15:clr>
            <a:srgbClr val="F26B43"/>
          </p15:clr>
        </p15:guide>
        <p15:guide id="8" pos="496" userDrawn="1">
          <p15:clr>
            <a:srgbClr val="F26B43"/>
          </p15:clr>
        </p15:guide>
        <p15:guide id="10" pos="792" userDrawn="1">
          <p15:clr>
            <a:srgbClr val="F26B43"/>
          </p15:clr>
        </p15:guide>
        <p15:guide id="11" orient="horz" pos="2160" userDrawn="1">
          <p15:clr>
            <a:srgbClr val="F26B43"/>
          </p15:clr>
        </p15:guide>
        <p15:guide id="12" orient="horz" pos="74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l"/>
            <a:r>
              <a:t>Retail Performance Engine</a:t>
            </a:r>
          </a:p>
          <a:p>
            <a:pPr algn="l">
              <a:defRPr sz="2000">
                <a:solidFill>
                  <a:srgbClr val="FFFFFF"/>
                </a:solidFill>
              </a:defRPr>
            </a:pPr>
            <a:r>
              <a:t>The Complete Debit Card Lifecycle Platform</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Your members' debit card journey has 4 stages.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347472"/>
            <a:ext cx="10972800" cy="640080"/>
          </a:xfrm>
          <a:prstGeom prst="rect">
            <a:avLst/>
          </a:prstGeom>
          <a:noFill/>
        </p:spPr>
        <p:txBody>
          <a:bodyPr wrap="square">
            <a:spAutoFit/>
          </a:bodyPr>
          <a:lstStyle/>
          <a:p>
            <a:pPr>
              <a:defRPr sz="2400" b="0">
                <a:solidFill>
                  <a:srgbClr val="FFFFFF"/>
                </a:solidFill>
              </a:defRPr>
            </a:pPr>
            <a:r>
              <a:t>What's at Stake -- The Cost of Lifecycle Blind Spots</a:t>
            </a:r>
          </a:p>
        </p:txBody>
      </p:sp>
      <p:sp>
        <p:nvSpPr>
          <p:cNvPr id="4" name="TextBox 3"/>
          <p:cNvSpPr txBox="1"/>
          <p:nvPr/>
        </p:nvSpPr>
        <p:spPr>
          <a:xfrm>
            <a:off x="457200" y="1645920"/>
            <a:ext cx="2468880" cy="914400"/>
          </a:xfrm>
          <a:prstGeom prst="rect">
            <a:avLst/>
          </a:prstGeom>
          <a:noFill/>
        </p:spPr>
        <p:txBody>
          <a:bodyPr wrap="none">
            <a:spAutoFit/>
          </a:bodyPr>
          <a:lstStyle/>
          <a:p>
            <a:pPr algn="ctr">
              <a:defRPr sz="4000" b="1">
                <a:solidFill>
                  <a:srgbClr val="1E3D59"/>
                </a:solidFill>
              </a:defRPr>
            </a:pPr>
            <a:r>
              <a:t>40%</a:t>
            </a:r>
          </a:p>
        </p:txBody>
      </p:sp>
      <p:sp>
        <p:nvSpPr>
          <p:cNvPr id="5" name="TextBox 4"/>
          <p:cNvSpPr txBox="1"/>
          <p:nvPr/>
        </p:nvSpPr>
        <p:spPr>
          <a:xfrm>
            <a:off x="457200" y="2560320"/>
            <a:ext cx="2468880" cy="457200"/>
          </a:xfrm>
          <a:prstGeom prst="rect">
            <a:avLst/>
          </a:prstGeom>
          <a:noFill/>
        </p:spPr>
        <p:txBody>
          <a:bodyPr wrap="none">
            <a:spAutoFit/>
          </a:bodyPr>
          <a:lstStyle/>
          <a:p>
            <a:pPr algn="ctr">
              <a:defRPr sz="1400">
                <a:solidFill>
                  <a:srgbClr val="646464"/>
                </a:solidFill>
              </a:defRPr>
            </a:pPr>
            <a:r>
              <a:t>New accounts that never activate</a:t>
            </a:r>
          </a:p>
        </p:txBody>
      </p:sp>
      <p:sp>
        <p:nvSpPr>
          <p:cNvPr id="6" name="TextBox 5"/>
          <p:cNvSpPr txBox="1"/>
          <p:nvPr/>
        </p:nvSpPr>
        <p:spPr>
          <a:xfrm>
            <a:off x="3200400" y="1645920"/>
            <a:ext cx="2468880" cy="914400"/>
          </a:xfrm>
          <a:prstGeom prst="rect">
            <a:avLst/>
          </a:prstGeom>
          <a:noFill/>
        </p:spPr>
        <p:txBody>
          <a:bodyPr wrap="none">
            <a:spAutoFit/>
          </a:bodyPr>
          <a:lstStyle/>
          <a:p>
            <a:pPr algn="ctr">
              <a:defRPr sz="4000" b="1">
                <a:solidFill>
                  <a:srgbClr val="1E3D59"/>
                </a:solidFill>
              </a:defRPr>
            </a:pPr>
            <a:r>
              <a:t>2.5x</a:t>
            </a:r>
          </a:p>
        </p:txBody>
      </p:sp>
      <p:sp>
        <p:nvSpPr>
          <p:cNvPr id="7" name="TextBox 6"/>
          <p:cNvSpPr txBox="1"/>
          <p:nvPr/>
        </p:nvSpPr>
        <p:spPr>
          <a:xfrm>
            <a:off x="3200400" y="2560320"/>
            <a:ext cx="2468880" cy="457200"/>
          </a:xfrm>
          <a:prstGeom prst="rect">
            <a:avLst/>
          </a:prstGeom>
          <a:noFill/>
        </p:spPr>
        <p:txBody>
          <a:bodyPr wrap="none">
            <a:spAutoFit/>
          </a:bodyPr>
          <a:lstStyle/>
          <a:p>
            <a:pPr algn="ctr">
              <a:defRPr sz="1400">
                <a:solidFill>
                  <a:srgbClr val="646464"/>
                </a:solidFill>
              </a:defRPr>
            </a:pPr>
            <a:r>
              <a:t>Higher attrition with 1 service vs 3+</a:t>
            </a:r>
          </a:p>
        </p:txBody>
      </p:sp>
      <p:sp>
        <p:nvSpPr>
          <p:cNvPr id="8" name="TextBox 7"/>
          <p:cNvSpPr txBox="1"/>
          <p:nvPr/>
        </p:nvSpPr>
        <p:spPr>
          <a:xfrm>
            <a:off x="5943600" y="1645920"/>
            <a:ext cx="2468880" cy="914400"/>
          </a:xfrm>
          <a:prstGeom prst="rect">
            <a:avLst/>
          </a:prstGeom>
          <a:noFill/>
        </p:spPr>
        <p:txBody>
          <a:bodyPr wrap="none">
            <a:spAutoFit/>
          </a:bodyPr>
          <a:lstStyle/>
          <a:p>
            <a:pPr algn="ctr">
              <a:defRPr sz="4000" b="1">
                <a:solidFill>
                  <a:srgbClr val="1E3D59"/>
                </a:solidFill>
              </a:defRPr>
            </a:pPr>
            <a:r>
              <a:t>35%</a:t>
            </a:r>
          </a:p>
        </p:txBody>
      </p:sp>
      <p:sp>
        <p:nvSpPr>
          <p:cNvPr id="9" name="TextBox 8"/>
          <p:cNvSpPr txBox="1"/>
          <p:nvPr/>
        </p:nvSpPr>
        <p:spPr>
          <a:xfrm>
            <a:off x="5943600" y="2560320"/>
            <a:ext cx="2468880" cy="457200"/>
          </a:xfrm>
          <a:prstGeom prst="rect">
            <a:avLst/>
          </a:prstGeom>
          <a:noFill/>
        </p:spPr>
        <p:txBody>
          <a:bodyPr wrap="none">
            <a:spAutoFit/>
          </a:bodyPr>
          <a:lstStyle/>
          <a:p>
            <a:pPr algn="ctr">
              <a:defRPr sz="1400">
                <a:solidFill>
                  <a:srgbClr val="646464"/>
                </a:solidFill>
              </a:defRPr>
            </a:pPr>
            <a:r>
              <a:t>Everyday spend going to competitors</a:t>
            </a:r>
          </a:p>
        </p:txBody>
      </p:sp>
      <p:sp>
        <p:nvSpPr>
          <p:cNvPr id="10" name="TextBox 9"/>
          <p:cNvSpPr txBox="1"/>
          <p:nvPr/>
        </p:nvSpPr>
        <p:spPr>
          <a:xfrm>
            <a:off x="8686800" y="1645920"/>
            <a:ext cx="2468880" cy="914400"/>
          </a:xfrm>
          <a:prstGeom prst="rect">
            <a:avLst/>
          </a:prstGeom>
          <a:noFill/>
        </p:spPr>
        <p:txBody>
          <a:bodyPr wrap="none">
            <a:spAutoFit/>
          </a:bodyPr>
          <a:lstStyle/>
          <a:p>
            <a:pPr algn="ctr">
              <a:defRPr sz="4000" b="1">
                <a:solidFill>
                  <a:srgbClr val="1E3D59"/>
                </a:solidFill>
              </a:defRPr>
            </a:pPr>
            <a:r>
              <a:t>$12+</a:t>
            </a:r>
          </a:p>
        </p:txBody>
      </p:sp>
      <p:sp>
        <p:nvSpPr>
          <p:cNvPr id="11" name="TextBox 10"/>
          <p:cNvSpPr txBox="1"/>
          <p:nvPr/>
        </p:nvSpPr>
        <p:spPr>
          <a:xfrm>
            <a:off x="8686800" y="2560320"/>
            <a:ext cx="2468880" cy="457200"/>
          </a:xfrm>
          <a:prstGeom prst="rect">
            <a:avLst/>
          </a:prstGeom>
          <a:noFill/>
        </p:spPr>
        <p:txBody>
          <a:bodyPr wrap="none">
            <a:spAutoFit/>
          </a:bodyPr>
          <a:lstStyle/>
          <a:p>
            <a:pPr algn="ctr">
              <a:defRPr sz="1400">
                <a:solidFill>
                  <a:srgbClr val="646464"/>
                </a:solidFill>
              </a:defRPr>
            </a:pPr>
            <a:r>
              <a:t>More revenue per premium account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365760" y="347472"/>
            <a:ext cx="10972800" cy="640080"/>
          </a:xfrm>
          <a:prstGeom prst="rect">
            <a:avLst/>
          </a:prstGeom>
          <a:noFill/>
        </p:spPr>
        <p:txBody>
          <a:bodyPr wrap="square">
            <a:spAutoFit/>
          </a:bodyPr>
          <a:lstStyle/>
          <a:p>
            <a:pPr>
              <a:defRPr sz="2400" b="0">
                <a:solidFill>
                  <a:srgbClr val="FFFFFF"/>
                </a:solidFill>
              </a:defRPr>
            </a:pPr>
            <a:r>
              <a:t>One Platform. Four Products. Complete Lifecycle Intelligence.</a:t>
            </a:r>
          </a:p>
        </p:txBody>
      </p:sp>
      <p:pic>
        <p:nvPicPr>
          <p:cNvPr id="4" name="Picture 3" descr="lifecycle_diagram.png"/>
          <p:cNvPicPr>
            <a:picLocks noChangeAspect="1"/>
          </p:cNvPicPr>
          <p:nvPr/>
        </p:nvPicPr>
        <p:blipFill>
          <a:blip r:embed="rId2"/>
          <a:stretch>
            <a:fillRect/>
          </a:stretch>
        </p:blipFill>
        <p:spPr>
          <a:xfrm>
            <a:off x="365760" y="1463040"/>
            <a:ext cx="6858000" cy="2512255"/>
          </a:xfrm>
          <a:prstGeom prst="rect">
            <a:avLst/>
          </a:prstGeom>
        </p:spPr>
      </p:pic>
      <p:sp>
        <p:nvSpPr>
          <p:cNvPr id="5" name="TextBox 4"/>
          <p:cNvSpPr txBox="1"/>
          <p:nvPr/>
        </p:nvSpPr>
        <p:spPr>
          <a:xfrm>
            <a:off x="7498079" y="1463040"/>
            <a:ext cx="4206240" cy="4572000"/>
          </a:xfrm>
          <a:prstGeom prst="rect">
            <a:avLst/>
          </a:prstGeom>
          <a:noFill/>
        </p:spPr>
        <p:txBody>
          <a:bodyPr wrap="square">
            <a:spAutoFit/>
          </a:bodyPr>
          <a:lstStyle/>
          <a:p>
            <a:pPr>
              <a:spcAft>
                <a:spcPts val="800"/>
              </a:spcAft>
              <a:defRPr sz="1400">
                <a:solidFill>
                  <a:srgbClr val="3C3C3C"/>
                </a:solidFill>
              </a:defRPr>
            </a:pPr>
            <a:r>
              <a:t>ICS -- Know where new accounts come from and which sources perform best</a:t>
            </a:r>
          </a:p>
          <a:p>
            <a:pPr>
              <a:spcAft>
                <a:spcPts val="800"/>
              </a:spcAft>
              <a:defRPr sz="1400">
                <a:solidFill>
                  <a:srgbClr val="3C3C3C"/>
                </a:solidFill>
              </a:defRPr>
            </a:pPr>
            <a:r>
              <a:t>Account Engagement -- Track service adoption in the critical first 90 days</a:t>
            </a:r>
          </a:p>
          <a:p>
            <a:pPr>
              <a:spcAft>
                <a:spcPts val="800"/>
              </a:spcAft>
              <a:defRPr sz="1400">
                <a:solidFill>
                  <a:srgbClr val="3C3C3C"/>
                </a:solidFill>
              </a:defRPr>
            </a:pPr>
            <a:r>
              <a:t>ARS -- Move members up the swipe ladder and prove mailer ROI</a:t>
            </a:r>
          </a:p>
          <a:p>
            <a:pPr>
              <a:spcAft>
                <a:spcPts val="800"/>
              </a:spcAft>
              <a:defRPr sz="1400">
                <a:solidFill>
                  <a:srgbClr val="3C3C3C"/>
                </a:solidFill>
              </a:defRPr>
            </a:pPr>
            <a:r>
              <a:t>MRPC -- Premium debit with bundled services and recurring fee revenue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Know where your new debit card accounts are coming from</a:t>
            </a:r>
          </a:p>
        </p:txBody>
      </p:sp>
      <p:pic>
        <p:nvPicPr>
          <p:cNvPr id="3" name="Picture 2" descr="ics_source.png"/>
          <p:cNvPicPr>
            <a:picLocks noChangeAspect="1"/>
          </p:cNvPicPr>
          <p:nvPr/>
        </p:nvPicPr>
        <p:blipFill>
          <a:blip r:embed="rId2"/>
          <a:stretch>
            <a:fillRect/>
          </a:stretch>
        </p:blipFill>
        <p:spPr>
          <a:xfrm>
            <a:off x="457200" y="1371600"/>
            <a:ext cx="5943600" cy="2721707"/>
          </a:xfrm>
          <a:prstGeom prst="rect">
            <a:avLst/>
          </a:prstGeom>
        </p:spPr>
      </p:pic>
      <p:sp>
        <p:nvSpPr>
          <p:cNvPr id="4" name="TextBox 3"/>
          <p:cNvSpPr txBox="1"/>
          <p:nvPr/>
        </p:nvSpPr>
        <p:spPr>
          <a:xfrm>
            <a:off x="6583680" y="1645920"/>
            <a:ext cx="5029200" cy="457200"/>
          </a:xfrm>
          <a:prstGeom prst="rect">
            <a:avLst/>
          </a:prstGeom>
          <a:noFill/>
        </p:spPr>
        <p:txBody>
          <a:bodyPr wrap="none">
            <a:spAutoFit/>
          </a:bodyPr>
          <a:lstStyle/>
          <a:p>
            <a:pPr>
              <a:defRPr sz="2000" b="1">
                <a:solidFill>
                  <a:srgbClr val="1E3D59"/>
                </a:solidFill>
              </a:defRPr>
            </a:pPr>
            <a:r>
              <a:t>Referral, direct mail, branch, digital</a:t>
            </a:r>
          </a:p>
        </p:txBody>
      </p:sp>
      <p:sp>
        <p:nvSpPr>
          <p:cNvPr id="5" name="TextBox 4"/>
          <p:cNvSpPr txBox="1"/>
          <p:nvPr/>
        </p:nvSpPr>
        <p:spPr>
          <a:xfrm>
            <a:off x="6583680" y="2103120"/>
            <a:ext cx="5029200" cy="274320"/>
          </a:xfrm>
          <a:prstGeom prst="rect">
            <a:avLst/>
          </a:prstGeom>
          <a:noFill/>
        </p:spPr>
        <p:txBody>
          <a:bodyPr wrap="none">
            <a:spAutoFit/>
          </a:bodyPr>
          <a:lstStyle/>
          <a:p>
            <a:pPr>
              <a:defRPr sz="1200">
                <a:solidFill>
                  <a:srgbClr val="646464"/>
                </a:solidFill>
              </a:defRPr>
            </a:pPr>
            <a:r>
              <a:t>Acquisition source tracking</a:t>
            </a:r>
          </a:p>
        </p:txBody>
      </p:sp>
      <p:sp>
        <p:nvSpPr>
          <p:cNvPr id="6" name="TextBox 5"/>
          <p:cNvSpPr txBox="1"/>
          <p:nvPr/>
        </p:nvSpPr>
        <p:spPr>
          <a:xfrm>
            <a:off x="6583680" y="2560320"/>
            <a:ext cx="5029200" cy="457200"/>
          </a:xfrm>
          <a:prstGeom prst="rect">
            <a:avLst/>
          </a:prstGeom>
          <a:noFill/>
        </p:spPr>
        <p:txBody>
          <a:bodyPr wrap="none">
            <a:spAutoFit/>
          </a:bodyPr>
          <a:lstStyle/>
          <a:p>
            <a:pPr>
              <a:defRPr sz="2000" b="1">
                <a:solidFill>
                  <a:srgbClr val="1E3D59"/>
                </a:solidFill>
              </a:defRPr>
            </a:pPr>
            <a:r>
              <a:t>By source and channel</a:t>
            </a:r>
          </a:p>
        </p:txBody>
      </p:sp>
      <p:sp>
        <p:nvSpPr>
          <p:cNvPr id="7" name="TextBox 6"/>
          <p:cNvSpPr txBox="1"/>
          <p:nvPr/>
        </p:nvSpPr>
        <p:spPr>
          <a:xfrm>
            <a:off x="6583680" y="3017520"/>
            <a:ext cx="5029200" cy="274320"/>
          </a:xfrm>
          <a:prstGeom prst="rect">
            <a:avLst/>
          </a:prstGeom>
          <a:noFill/>
        </p:spPr>
        <p:txBody>
          <a:bodyPr wrap="none">
            <a:spAutoFit/>
          </a:bodyPr>
          <a:lstStyle/>
          <a:p>
            <a:pPr>
              <a:defRPr sz="1200">
                <a:solidFill>
                  <a:srgbClr val="646464"/>
                </a:solidFill>
              </a:defRPr>
            </a:pPr>
            <a:r>
              <a:t>New account activation rates</a:t>
            </a:r>
          </a:p>
        </p:txBody>
      </p:sp>
      <p:sp>
        <p:nvSpPr>
          <p:cNvPr id="8" name="TextBox 7"/>
          <p:cNvSpPr txBox="1"/>
          <p:nvPr/>
        </p:nvSpPr>
        <p:spPr>
          <a:xfrm>
            <a:off x="6583680" y="3474720"/>
            <a:ext cx="5029200" cy="457200"/>
          </a:xfrm>
          <a:prstGeom prst="rect">
            <a:avLst/>
          </a:prstGeom>
          <a:noFill/>
        </p:spPr>
        <p:txBody>
          <a:bodyPr wrap="none">
            <a:spAutoFit/>
          </a:bodyPr>
          <a:lstStyle/>
          <a:p>
            <a:pPr>
              <a:defRPr sz="2000" b="1">
                <a:solidFill>
                  <a:srgbClr val="1E3D59"/>
                </a:solidFill>
              </a:defRPr>
            </a:pPr>
            <a:r>
              <a:t>Referral conversion tracking</a:t>
            </a:r>
          </a:p>
        </p:txBody>
      </p:sp>
      <p:sp>
        <p:nvSpPr>
          <p:cNvPr id="9" name="TextBox 8"/>
          <p:cNvSpPr txBox="1"/>
          <p:nvPr/>
        </p:nvSpPr>
        <p:spPr>
          <a:xfrm>
            <a:off x="6583680" y="3931920"/>
            <a:ext cx="5029200" cy="274320"/>
          </a:xfrm>
          <a:prstGeom prst="rect">
            <a:avLst/>
          </a:prstGeom>
          <a:noFill/>
        </p:spPr>
        <p:txBody>
          <a:bodyPr wrap="none">
            <a:spAutoFit/>
          </a:bodyPr>
          <a:lstStyle/>
          <a:p>
            <a:pPr>
              <a:defRPr sz="1200">
                <a:solidFill>
                  <a:srgbClr val="646464"/>
                </a:solidFill>
              </a:defRPr>
            </a:pPr>
            <a:r>
              <a:t>Branch and staff performance</a:t>
            </a:r>
          </a:p>
        </p:txBody>
      </p:sp>
      <p:sp>
        <p:nvSpPr>
          <p:cNvPr id="10" name="TextBox 9"/>
          <p:cNvSpPr txBox="1"/>
          <p:nvPr/>
        </p:nvSpPr>
        <p:spPr>
          <a:xfrm>
            <a:off x="6583680" y="4389120"/>
            <a:ext cx="5029200" cy="457200"/>
          </a:xfrm>
          <a:prstGeom prst="rect">
            <a:avLst/>
          </a:prstGeom>
          <a:noFill/>
        </p:spPr>
        <p:txBody>
          <a:bodyPr wrap="none">
            <a:spAutoFit/>
          </a:bodyPr>
          <a:lstStyle/>
          <a:p>
            <a:pPr>
              <a:defRPr sz="2000" b="1">
                <a:solidFill>
                  <a:srgbClr val="1E3D59"/>
                </a:solidFill>
              </a:defRPr>
            </a:pPr>
            <a:r>
              <a:t>Acquisition efficiency by channel</a:t>
            </a:r>
          </a:p>
        </p:txBody>
      </p:sp>
      <p:sp>
        <p:nvSpPr>
          <p:cNvPr id="11" name="TextBox 10"/>
          <p:cNvSpPr txBox="1"/>
          <p:nvPr/>
        </p:nvSpPr>
        <p:spPr>
          <a:xfrm>
            <a:off x="6583680" y="4846320"/>
            <a:ext cx="5029200" cy="274320"/>
          </a:xfrm>
          <a:prstGeom prst="rect">
            <a:avLst/>
          </a:prstGeom>
          <a:noFill/>
        </p:spPr>
        <p:txBody>
          <a:bodyPr wrap="none">
            <a:spAutoFit/>
          </a:bodyPr>
          <a:lstStyle/>
          <a:p>
            <a:pPr>
              <a:defRPr sz="1200">
                <a:solidFill>
                  <a:srgbClr val="646464"/>
                </a:solidFill>
              </a:defRPr>
            </a:pPr>
            <a:r>
              <a:t>Cost per activated account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deeper the relationship starts, the longer it lasts</a:t>
            </a:r>
          </a:p>
        </p:txBody>
      </p:sp>
      <p:pic>
        <p:nvPicPr>
          <p:cNvPr id="3" name="Picture 2" descr="service_adoption.png"/>
          <p:cNvPicPr>
            <a:picLocks noChangeAspect="1"/>
          </p:cNvPicPr>
          <p:nvPr/>
        </p:nvPicPr>
        <p:blipFill>
          <a:blip r:embed="rId2"/>
          <a:stretch>
            <a:fillRect/>
          </a:stretch>
        </p:blipFill>
        <p:spPr>
          <a:xfrm>
            <a:off x="457200" y="1371600"/>
            <a:ext cx="5943600" cy="3627912"/>
          </a:xfrm>
          <a:prstGeom prst="rect">
            <a:avLst/>
          </a:prstGeom>
        </p:spPr>
      </p:pic>
      <p:sp>
        <p:nvSpPr>
          <p:cNvPr id="4" name="TextBox 3"/>
          <p:cNvSpPr txBox="1"/>
          <p:nvPr/>
        </p:nvSpPr>
        <p:spPr>
          <a:xfrm>
            <a:off x="6583680" y="1645920"/>
            <a:ext cx="5029200" cy="457200"/>
          </a:xfrm>
          <a:prstGeom prst="rect">
            <a:avLst/>
          </a:prstGeom>
          <a:noFill/>
        </p:spPr>
        <p:txBody>
          <a:bodyPr wrap="none">
            <a:spAutoFit/>
          </a:bodyPr>
          <a:lstStyle/>
          <a:p>
            <a:pPr>
              <a:defRPr sz="2000" b="1">
                <a:solidFill>
                  <a:srgbClr val="1E3D59"/>
                </a:solidFill>
              </a:defRPr>
            </a:pPr>
            <a:r>
              <a:t>eStatements, online banking, direct deposit, bill pay, mobile</a:t>
            </a:r>
          </a:p>
        </p:txBody>
      </p:sp>
      <p:sp>
        <p:nvSpPr>
          <p:cNvPr id="5" name="TextBox 4"/>
          <p:cNvSpPr txBox="1"/>
          <p:nvPr/>
        </p:nvSpPr>
        <p:spPr>
          <a:xfrm>
            <a:off x="6583680" y="2103120"/>
            <a:ext cx="5029200" cy="274320"/>
          </a:xfrm>
          <a:prstGeom prst="rect">
            <a:avLst/>
          </a:prstGeom>
          <a:noFill/>
        </p:spPr>
        <p:txBody>
          <a:bodyPr wrap="none">
            <a:spAutoFit/>
          </a:bodyPr>
          <a:lstStyle/>
          <a:p>
            <a:pPr>
              <a:defRPr sz="1200">
                <a:solidFill>
                  <a:srgbClr val="646464"/>
                </a:solidFill>
              </a:defRPr>
            </a:pPr>
            <a:r>
              <a:t>Service adoption tracking</a:t>
            </a:r>
          </a:p>
        </p:txBody>
      </p:sp>
      <p:sp>
        <p:nvSpPr>
          <p:cNvPr id="6" name="TextBox 5"/>
          <p:cNvSpPr txBox="1"/>
          <p:nvPr/>
        </p:nvSpPr>
        <p:spPr>
          <a:xfrm>
            <a:off x="6583680" y="2560320"/>
            <a:ext cx="5029200" cy="457200"/>
          </a:xfrm>
          <a:prstGeom prst="rect">
            <a:avLst/>
          </a:prstGeom>
          <a:noFill/>
        </p:spPr>
        <p:txBody>
          <a:bodyPr wrap="none">
            <a:spAutoFit/>
          </a:bodyPr>
          <a:lstStyle/>
          <a:p>
            <a:pPr>
              <a:defRPr sz="2000" b="1">
                <a:solidFill>
                  <a:srgbClr val="1E3D59"/>
                </a:solidFill>
              </a:defRPr>
            </a:pPr>
            <a:r>
              <a:t>How quickly new members engage with multiple services</a:t>
            </a:r>
          </a:p>
        </p:txBody>
      </p:sp>
      <p:sp>
        <p:nvSpPr>
          <p:cNvPr id="7" name="TextBox 6"/>
          <p:cNvSpPr txBox="1"/>
          <p:nvPr/>
        </p:nvSpPr>
        <p:spPr>
          <a:xfrm>
            <a:off x="6583680" y="3017520"/>
            <a:ext cx="5029200" cy="274320"/>
          </a:xfrm>
          <a:prstGeom prst="rect">
            <a:avLst/>
          </a:prstGeom>
          <a:noFill/>
        </p:spPr>
        <p:txBody>
          <a:bodyPr wrap="none">
            <a:spAutoFit/>
          </a:bodyPr>
          <a:lstStyle/>
          <a:p>
            <a:pPr>
              <a:defRPr sz="1200">
                <a:solidFill>
                  <a:srgbClr val="646464"/>
                </a:solidFill>
              </a:defRPr>
            </a:pPr>
            <a:r>
              <a:t>Adoption velocity</a:t>
            </a:r>
          </a:p>
        </p:txBody>
      </p:sp>
      <p:sp>
        <p:nvSpPr>
          <p:cNvPr id="8" name="TextBox 7"/>
          <p:cNvSpPr txBox="1"/>
          <p:nvPr/>
        </p:nvSpPr>
        <p:spPr>
          <a:xfrm>
            <a:off x="6583680" y="3474720"/>
            <a:ext cx="5029200" cy="457200"/>
          </a:xfrm>
          <a:prstGeom prst="rect">
            <a:avLst/>
          </a:prstGeom>
          <a:noFill/>
        </p:spPr>
        <p:txBody>
          <a:bodyPr wrap="none">
            <a:spAutoFit/>
          </a:bodyPr>
          <a:lstStyle/>
          <a:p>
            <a:pPr>
              <a:defRPr sz="2000" b="1">
                <a:solidFill>
                  <a:srgbClr val="1E3D59"/>
                </a:solidFill>
              </a:defRPr>
            </a:pPr>
            <a:r>
              <a:t>Opportunities flagged in the first 90 days</a:t>
            </a:r>
          </a:p>
        </p:txBody>
      </p:sp>
      <p:sp>
        <p:nvSpPr>
          <p:cNvPr id="9" name="TextBox 8"/>
          <p:cNvSpPr txBox="1"/>
          <p:nvPr/>
        </p:nvSpPr>
        <p:spPr>
          <a:xfrm>
            <a:off x="6583680" y="3931920"/>
            <a:ext cx="5029200" cy="274320"/>
          </a:xfrm>
          <a:prstGeom prst="rect">
            <a:avLst/>
          </a:prstGeom>
          <a:noFill/>
        </p:spPr>
        <p:txBody>
          <a:bodyPr wrap="none">
            <a:spAutoFit/>
          </a:bodyPr>
          <a:lstStyle/>
          <a:p>
            <a:pPr>
              <a:defRPr sz="1200">
                <a:solidFill>
                  <a:srgbClr val="646464"/>
                </a:solidFill>
              </a:defRPr>
            </a:pPr>
            <a:r>
              <a:t>Cross-sell identification</a:t>
            </a:r>
          </a:p>
        </p:txBody>
      </p:sp>
      <p:sp>
        <p:nvSpPr>
          <p:cNvPr id="10" name="TextBox 9"/>
          <p:cNvSpPr txBox="1"/>
          <p:nvPr/>
        </p:nvSpPr>
        <p:spPr>
          <a:xfrm>
            <a:off x="6583680" y="4389120"/>
            <a:ext cx="5029200" cy="457200"/>
          </a:xfrm>
          <a:prstGeom prst="rect">
            <a:avLst/>
          </a:prstGeom>
          <a:noFill/>
        </p:spPr>
        <p:txBody>
          <a:bodyPr wrap="none">
            <a:spAutoFit/>
          </a:bodyPr>
          <a:lstStyle/>
          <a:p>
            <a:pPr>
              <a:defRPr sz="2000" b="1">
                <a:solidFill>
                  <a:srgbClr val="1E3D59"/>
                </a:solidFill>
              </a:defRPr>
            </a:pPr>
            <a:r>
              <a:t>Early adoption predicts long-term membership</a:t>
            </a:r>
          </a:p>
        </p:txBody>
      </p:sp>
      <p:sp>
        <p:nvSpPr>
          <p:cNvPr id="11" name="TextBox 10"/>
          <p:cNvSpPr txBox="1"/>
          <p:nvPr/>
        </p:nvSpPr>
        <p:spPr>
          <a:xfrm>
            <a:off x="6583680" y="4846320"/>
            <a:ext cx="5029200" cy="274320"/>
          </a:xfrm>
          <a:prstGeom prst="rect">
            <a:avLst/>
          </a:prstGeom>
          <a:noFill/>
        </p:spPr>
        <p:txBody>
          <a:bodyPr wrap="none">
            <a:spAutoFit/>
          </a:bodyPr>
          <a:lstStyle/>
          <a:p>
            <a:pPr>
              <a:defRPr sz="1200">
                <a:solidFill>
                  <a:srgbClr val="646464"/>
                </a:solidFill>
              </a:defRPr>
            </a:pPr>
            <a:r>
              <a:t>Retention correlation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Move members up the swipe ladder</a:t>
            </a:r>
          </a:p>
        </p:txBody>
      </p:sp>
      <p:pic>
        <p:nvPicPr>
          <p:cNvPr id="3" name="Picture 2" descr="swipe_ladder.png"/>
          <p:cNvPicPr>
            <a:picLocks noChangeAspect="1"/>
          </p:cNvPicPr>
          <p:nvPr/>
        </p:nvPicPr>
        <p:blipFill>
          <a:blip r:embed="rId2"/>
          <a:stretch>
            <a:fillRect/>
          </a:stretch>
        </p:blipFill>
        <p:spPr>
          <a:xfrm>
            <a:off x="457200" y="1371600"/>
            <a:ext cx="5943600" cy="3553280"/>
          </a:xfrm>
          <a:prstGeom prst="rect">
            <a:avLst/>
          </a:prstGeom>
        </p:spPr>
      </p:pic>
      <p:sp>
        <p:nvSpPr>
          <p:cNvPr id="4" name="TextBox 3"/>
          <p:cNvSpPr txBox="1"/>
          <p:nvPr/>
        </p:nvSpPr>
        <p:spPr>
          <a:xfrm>
            <a:off x="6583680" y="1645920"/>
            <a:ext cx="5029200" cy="457200"/>
          </a:xfrm>
          <a:prstGeom prst="rect">
            <a:avLst/>
          </a:prstGeom>
          <a:noFill/>
        </p:spPr>
        <p:txBody>
          <a:bodyPr wrap="none">
            <a:spAutoFit/>
          </a:bodyPr>
          <a:lstStyle/>
          <a:p>
            <a:pPr>
              <a:defRPr sz="2000" b="1">
                <a:solidFill>
                  <a:srgbClr val="1E3D59"/>
                </a:solidFill>
              </a:defRPr>
            </a:pPr>
            <a:r>
              <a:t>ARS tracks exactly where they are and which direction they're moving</a:t>
            </a:r>
          </a:p>
        </p:txBody>
      </p:sp>
      <p:sp>
        <p:nvSpPr>
          <p:cNvPr id="5" name="TextBox 4"/>
          <p:cNvSpPr txBox="1"/>
          <p:nvPr/>
        </p:nvSpPr>
        <p:spPr>
          <a:xfrm>
            <a:off x="6583680" y="2103120"/>
            <a:ext cx="5029200" cy="274320"/>
          </a:xfrm>
          <a:prstGeom prst="rect">
            <a:avLst/>
          </a:prstGeom>
          <a:noFill/>
        </p:spPr>
        <p:txBody>
          <a:bodyPr wrap="none">
            <a:spAutoFit/>
          </a:bodyPr>
          <a:lstStyle/>
          <a:p>
            <a:pPr>
              <a:defRPr sz="1200">
                <a:solidFill>
                  <a:srgbClr val="646464"/>
                </a:solidFill>
              </a:defRPr>
            </a:pPr>
            <a:r>
              <a:t>Every member on the ladder</a:t>
            </a:r>
          </a:p>
        </p:txBody>
      </p:sp>
      <p:sp>
        <p:nvSpPr>
          <p:cNvPr id="6" name="TextBox 5"/>
          <p:cNvSpPr txBox="1"/>
          <p:nvPr/>
        </p:nvSpPr>
        <p:spPr>
          <a:xfrm>
            <a:off x="6583680" y="2560320"/>
            <a:ext cx="5029200" cy="457200"/>
          </a:xfrm>
          <a:prstGeom prst="rect">
            <a:avLst/>
          </a:prstGeom>
          <a:noFill/>
        </p:spPr>
        <p:txBody>
          <a:bodyPr wrap="none">
            <a:spAutoFit/>
          </a:bodyPr>
          <a:lstStyle/>
          <a:p>
            <a:pPr>
              <a:defRPr sz="2000" b="1">
                <a:solidFill>
                  <a:srgbClr val="1E3D59"/>
                </a:solidFill>
              </a:defRPr>
            </a:pPr>
            <a:r>
              <a:t>Move members UP to the next tier</a:t>
            </a:r>
          </a:p>
        </p:txBody>
      </p:sp>
      <p:sp>
        <p:nvSpPr>
          <p:cNvPr id="7" name="TextBox 6"/>
          <p:cNvSpPr txBox="1"/>
          <p:nvPr/>
        </p:nvSpPr>
        <p:spPr>
          <a:xfrm>
            <a:off x="6583680" y="3017520"/>
            <a:ext cx="5029200" cy="274320"/>
          </a:xfrm>
          <a:prstGeom prst="rect">
            <a:avLst/>
          </a:prstGeom>
          <a:noFill/>
        </p:spPr>
        <p:txBody>
          <a:bodyPr wrap="none">
            <a:spAutoFit/>
          </a:bodyPr>
          <a:lstStyle/>
          <a:p>
            <a:pPr>
              <a:defRPr sz="1200">
                <a:solidFill>
                  <a:srgbClr val="646464"/>
                </a:solidFill>
              </a:defRPr>
            </a:pPr>
            <a:r>
              <a:t>Targeted mailer campaigns</a:t>
            </a:r>
          </a:p>
        </p:txBody>
      </p:sp>
      <p:sp>
        <p:nvSpPr>
          <p:cNvPr id="8" name="TextBox 7"/>
          <p:cNvSpPr txBox="1"/>
          <p:nvPr/>
        </p:nvSpPr>
        <p:spPr>
          <a:xfrm>
            <a:off x="6583680" y="3474720"/>
            <a:ext cx="5029200" cy="457200"/>
          </a:xfrm>
          <a:prstGeom prst="rect">
            <a:avLst/>
          </a:prstGeom>
          <a:noFill/>
        </p:spPr>
        <p:txBody>
          <a:bodyPr wrap="none">
            <a:spAutoFit/>
          </a:bodyPr>
          <a:lstStyle/>
          <a:p>
            <a:pPr>
              <a:defRPr sz="2000" b="1">
                <a:solidFill>
                  <a:srgbClr val="1E3D59"/>
                </a:solidFill>
              </a:defRPr>
            </a:pPr>
            <a:r>
              <a:t>Catch members moving DOWN -- intervene before dormancy</a:t>
            </a:r>
          </a:p>
        </p:txBody>
      </p:sp>
      <p:sp>
        <p:nvSpPr>
          <p:cNvPr id="9" name="TextBox 8"/>
          <p:cNvSpPr txBox="1"/>
          <p:nvPr/>
        </p:nvSpPr>
        <p:spPr>
          <a:xfrm>
            <a:off x="6583680" y="3931920"/>
            <a:ext cx="5029200" cy="274320"/>
          </a:xfrm>
          <a:prstGeom prst="rect">
            <a:avLst/>
          </a:prstGeom>
          <a:noFill/>
        </p:spPr>
        <p:txBody>
          <a:bodyPr wrap="none">
            <a:spAutoFit/>
          </a:bodyPr>
          <a:lstStyle/>
          <a:p>
            <a:pPr>
              <a:defRPr sz="1200">
                <a:solidFill>
                  <a:srgbClr val="646464"/>
                </a:solidFill>
              </a:defRPr>
            </a:pPr>
            <a:r>
              <a:t>Early detection</a:t>
            </a:r>
          </a:p>
        </p:txBody>
      </p:sp>
      <p:sp>
        <p:nvSpPr>
          <p:cNvPr id="10" name="TextBox 9"/>
          <p:cNvSpPr txBox="1"/>
          <p:nvPr/>
        </p:nvSpPr>
        <p:spPr>
          <a:xfrm>
            <a:off x="6583680" y="4389120"/>
            <a:ext cx="5029200" cy="457200"/>
          </a:xfrm>
          <a:prstGeom prst="rect">
            <a:avLst/>
          </a:prstGeom>
          <a:noFill/>
        </p:spPr>
        <p:txBody>
          <a:bodyPr wrap="none">
            <a:spAutoFit/>
          </a:bodyPr>
          <a:lstStyle/>
          <a:p>
            <a:pPr>
              <a:defRPr sz="2000" b="1">
                <a:solidFill>
                  <a:srgbClr val="1E3D59"/>
                </a:solidFill>
              </a:defRPr>
            </a:pPr>
            <a:r>
              <a:t>Response intelligence across campaigns</a:t>
            </a:r>
          </a:p>
        </p:txBody>
      </p:sp>
      <p:sp>
        <p:nvSpPr>
          <p:cNvPr id="11" name="TextBox 10"/>
          <p:cNvSpPr txBox="1"/>
          <p:nvPr/>
        </p:nvSpPr>
        <p:spPr>
          <a:xfrm>
            <a:off x="6583680" y="4846320"/>
            <a:ext cx="5029200" cy="274320"/>
          </a:xfrm>
          <a:prstGeom prst="rect">
            <a:avLst/>
          </a:prstGeom>
          <a:noFill/>
        </p:spPr>
        <p:txBody>
          <a:bodyPr wrap="none">
            <a:spAutoFit/>
          </a:bodyPr>
          <a:lstStyle/>
          <a:p>
            <a:pPr>
              <a:defRPr sz="1200">
                <a:solidFill>
                  <a:srgbClr val="646464"/>
                </a:solidFill>
              </a:defRPr>
            </a:pPr>
            <a:r>
              <a:t>First-time vs repeat tracking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 analyze 38 competitive patterns across 6 categories</a:t>
            </a:r>
          </a:p>
        </p:txBody>
      </p:sp>
      <p:pic>
        <p:nvPicPr>
          <p:cNvPr id="3" name="Picture 2" descr="competition.png"/>
          <p:cNvPicPr>
            <a:picLocks noChangeAspect="1"/>
          </p:cNvPicPr>
          <p:nvPr/>
        </p:nvPicPr>
        <p:blipFill>
          <a:blip r:embed="rId2"/>
          <a:stretch>
            <a:fillRect/>
          </a:stretch>
        </p:blipFill>
        <p:spPr>
          <a:xfrm>
            <a:off x="457200" y="1371600"/>
            <a:ext cx="5943600" cy="2952259"/>
          </a:xfrm>
          <a:prstGeom prst="rect">
            <a:avLst/>
          </a:prstGeom>
        </p:spPr>
      </p:pic>
      <p:sp>
        <p:nvSpPr>
          <p:cNvPr id="4" name="TextBox 3"/>
          <p:cNvSpPr txBox="1"/>
          <p:nvPr/>
        </p:nvSpPr>
        <p:spPr>
          <a:xfrm>
            <a:off x="6583680" y="1645920"/>
            <a:ext cx="5029200" cy="457200"/>
          </a:xfrm>
          <a:prstGeom prst="rect">
            <a:avLst/>
          </a:prstGeom>
          <a:noFill/>
        </p:spPr>
        <p:txBody>
          <a:bodyPr wrap="none">
            <a:spAutoFit/>
          </a:bodyPr>
          <a:lstStyle/>
          <a:p>
            <a:pPr>
              <a:defRPr sz="2000" b="1">
                <a:solidFill>
                  <a:srgbClr val="1E3D59"/>
                </a:solidFill>
              </a:defRPr>
            </a:pPr>
            <a:r>
              <a:t>Analyzed for every client</a:t>
            </a:r>
          </a:p>
        </p:txBody>
      </p:sp>
      <p:sp>
        <p:nvSpPr>
          <p:cNvPr id="5" name="TextBox 4"/>
          <p:cNvSpPr txBox="1"/>
          <p:nvPr/>
        </p:nvSpPr>
        <p:spPr>
          <a:xfrm>
            <a:off x="6583680" y="2103120"/>
            <a:ext cx="5029200" cy="274320"/>
          </a:xfrm>
          <a:prstGeom prst="rect">
            <a:avLst/>
          </a:prstGeom>
          <a:noFill/>
        </p:spPr>
        <p:txBody>
          <a:bodyPr wrap="none">
            <a:spAutoFit/>
          </a:bodyPr>
          <a:lstStyle/>
          <a:p>
            <a:pPr>
              <a:defRPr sz="1200">
                <a:solidFill>
                  <a:srgbClr val="646464"/>
                </a:solidFill>
              </a:defRPr>
            </a:pPr>
            <a:r>
              <a:t>38 competitive patterns</a:t>
            </a:r>
          </a:p>
        </p:txBody>
      </p:sp>
      <p:sp>
        <p:nvSpPr>
          <p:cNvPr id="6" name="TextBox 5"/>
          <p:cNvSpPr txBox="1"/>
          <p:nvPr/>
        </p:nvSpPr>
        <p:spPr>
          <a:xfrm>
            <a:off x="6583680" y="2560320"/>
            <a:ext cx="5029200" cy="457200"/>
          </a:xfrm>
          <a:prstGeom prst="rect">
            <a:avLst/>
          </a:prstGeom>
          <a:noFill/>
        </p:spPr>
        <p:txBody>
          <a:bodyPr wrap="none">
            <a:spAutoFit/>
          </a:bodyPr>
          <a:lstStyle/>
          <a:p>
            <a:pPr>
              <a:defRPr sz="2000" b="1">
                <a:solidFill>
                  <a:srgbClr val="1E3D59"/>
                </a:solidFill>
              </a:defRPr>
            </a:pPr>
            <a:r>
              <a:t>From community banks to Chase and Chime</a:t>
            </a:r>
          </a:p>
        </p:txBody>
      </p:sp>
      <p:sp>
        <p:nvSpPr>
          <p:cNvPr id="7" name="TextBox 6"/>
          <p:cNvSpPr txBox="1"/>
          <p:nvPr/>
        </p:nvSpPr>
        <p:spPr>
          <a:xfrm>
            <a:off x="6583680" y="3017520"/>
            <a:ext cx="5029200" cy="274320"/>
          </a:xfrm>
          <a:prstGeom prst="rect">
            <a:avLst/>
          </a:prstGeom>
          <a:noFill/>
        </p:spPr>
        <p:txBody>
          <a:bodyPr wrap="none">
            <a:spAutoFit/>
          </a:bodyPr>
          <a:lstStyle/>
          <a:p>
            <a:pPr>
              <a:defRPr sz="1200">
                <a:solidFill>
                  <a:srgbClr val="646464"/>
                </a:solidFill>
              </a:defRPr>
            </a:pPr>
            <a:r>
              <a:t>Local AND national</a:t>
            </a:r>
          </a:p>
        </p:txBody>
      </p:sp>
      <p:sp>
        <p:nvSpPr>
          <p:cNvPr id="8" name="TextBox 7"/>
          <p:cNvSpPr txBox="1"/>
          <p:nvPr/>
        </p:nvSpPr>
        <p:spPr>
          <a:xfrm>
            <a:off x="6583680" y="3474720"/>
            <a:ext cx="5029200" cy="457200"/>
          </a:xfrm>
          <a:prstGeom prst="rect">
            <a:avLst/>
          </a:prstGeom>
          <a:noFill/>
        </p:spPr>
        <p:txBody>
          <a:bodyPr wrap="none">
            <a:spAutoFit/>
          </a:bodyPr>
          <a:lstStyle/>
          <a:p>
            <a:pPr>
              <a:defRPr sz="2000" b="1">
                <a:solidFill>
                  <a:srgbClr val="1E3D59"/>
                </a:solidFill>
              </a:defRPr>
            </a:pPr>
            <a:r>
              <a:t>Know exactly where you're losing wallet share</a:t>
            </a:r>
          </a:p>
        </p:txBody>
      </p:sp>
      <p:sp>
        <p:nvSpPr>
          <p:cNvPr id="9" name="TextBox 8"/>
          <p:cNvSpPr txBox="1"/>
          <p:nvPr/>
        </p:nvSpPr>
        <p:spPr>
          <a:xfrm>
            <a:off x="6583680" y="3931920"/>
            <a:ext cx="5029200" cy="274320"/>
          </a:xfrm>
          <a:prstGeom prst="rect">
            <a:avLst/>
          </a:prstGeom>
          <a:noFill/>
        </p:spPr>
        <p:txBody>
          <a:bodyPr wrap="none">
            <a:spAutoFit/>
          </a:bodyPr>
          <a:lstStyle/>
          <a:p>
            <a:pPr>
              <a:defRPr sz="1200">
                <a:solidFill>
                  <a:srgbClr val="646464"/>
                </a:solidFill>
              </a:defRPr>
            </a:pPr>
            <a:r>
              <a:t>Spend share by category</a:t>
            </a:r>
          </a:p>
        </p:txBody>
      </p:sp>
      <p:sp>
        <p:nvSpPr>
          <p:cNvPr id="10" name="TextBox 9"/>
          <p:cNvSpPr txBox="1"/>
          <p:nvPr/>
        </p:nvSpPr>
        <p:spPr>
          <a:xfrm>
            <a:off x="6583680" y="4389120"/>
            <a:ext cx="5029200" cy="457200"/>
          </a:xfrm>
          <a:prstGeom prst="rect">
            <a:avLst/>
          </a:prstGeom>
          <a:noFill/>
        </p:spPr>
        <p:txBody>
          <a:bodyPr wrap="none">
            <a:spAutoFit/>
          </a:bodyPr>
          <a:lstStyle/>
          <a:p>
            <a:pPr>
              <a:defRPr sz="2000" b="1">
                <a:solidFill>
                  <a:srgbClr val="1E3D59"/>
                </a:solidFill>
              </a:defRPr>
            </a:pPr>
            <a:r>
              <a:t>Big banks, regional, CUs, neobanks, wallets, BNPL</a:t>
            </a:r>
          </a:p>
        </p:txBody>
      </p:sp>
      <p:sp>
        <p:nvSpPr>
          <p:cNvPr id="11" name="TextBox 10"/>
          <p:cNvSpPr txBox="1"/>
          <p:nvPr/>
        </p:nvSpPr>
        <p:spPr>
          <a:xfrm>
            <a:off x="6583680" y="4846320"/>
            <a:ext cx="5029200" cy="274320"/>
          </a:xfrm>
          <a:prstGeom prst="rect">
            <a:avLst/>
          </a:prstGeom>
          <a:noFill/>
        </p:spPr>
        <p:txBody>
          <a:bodyPr wrap="none">
            <a:spAutoFit/>
          </a:bodyPr>
          <a:lstStyle/>
          <a:p>
            <a:pPr>
              <a:defRPr sz="1200">
                <a:solidFill>
                  <a:srgbClr val="646464"/>
                </a:solidFill>
              </a:defRPr>
            </a:pPr>
            <a:r>
              <a:t>6 competitor types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See where your members go for financial services</a:t>
            </a:r>
          </a:p>
        </p:txBody>
      </p:sp>
      <p:pic>
        <p:nvPicPr>
          <p:cNvPr id="3" name="Picture 2" descr="financial_services.png"/>
          <p:cNvPicPr>
            <a:picLocks noChangeAspect="1"/>
          </p:cNvPicPr>
          <p:nvPr/>
        </p:nvPicPr>
        <p:blipFill>
          <a:blip r:embed="rId2"/>
          <a:stretch>
            <a:fillRect/>
          </a:stretch>
        </p:blipFill>
        <p:spPr>
          <a:xfrm>
            <a:off x="457200" y="1371600"/>
            <a:ext cx="5943600" cy="2546854"/>
          </a:xfrm>
          <a:prstGeom prst="rect">
            <a:avLst/>
          </a:prstGeom>
        </p:spPr>
      </p:pic>
      <p:sp>
        <p:nvSpPr>
          <p:cNvPr id="4" name="TextBox 3"/>
          <p:cNvSpPr txBox="1"/>
          <p:nvPr/>
        </p:nvSpPr>
        <p:spPr>
          <a:xfrm>
            <a:off x="6583680" y="1645920"/>
            <a:ext cx="5029200" cy="457200"/>
          </a:xfrm>
          <a:prstGeom prst="rect">
            <a:avLst/>
          </a:prstGeom>
          <a:noFill/>
        </p:spPr>
        <p:txBody>
          <a:bodyPr wrap="none">
            <a:spAutoFit/>
          </a:bodyPr>
          <a:lstStyle/>
          <a:p>
            <a:pPr>
              <a:defRPr sz="2000" b="1">
                <a:solidFill>
                  <a:srgbClr val="1E3D59"/>
                </a:solidFill>
              </a:defRPr>
            </a:pPr>
            <a:r>
              <a:t>Auto loans, banks, business loans, student loans, credit cards, mortgage/HELOC, treasury, investments</a:t>
            </a:r>
          </a:p>
        </p:txBody>
      </p:sp>
      <p:sp>
        <p:nvSpPr>
          <p:cNvPr id="5" name="TextBox 4"/>
          <p:cNvSpPr txBox="1"/>
          <p:nvPr/>
        </p:nvSpPr>
        <p:spPr>
          <a:xfrm>
            <a:off x="6583680" y="2103120"/>
            <a:ext cx="5029200" cy="274320"/>
          </a:xfrm>
          <a:prstGeom prst="rect">
            <a:avLst/>
          </a:prstGeom>
          <a:noFill/>
        </p:spPr>
        <p:txBody>
          <a:bodyPr wrap="none">
            <a:spAutoFit/>
          </a:bodyPr>
          <a:lstStyle/>
          <a:p>
            <a:pPr>
              <a:defRPr sz="1200">
                <a:solidFill>
                  <a:srgbClr val="646464"/>
                </a:solidFill>
              </a:defRPr>
            </a:pPr>
            <a:r>
              <a:t>8 financial service categories</a:t>
            </a:r>
          </a:p>
        </p:txBody>
      </p:sp>
      <p:sp>
        <p:nvSpPr>
          <p:cNvPr id="6" name="TextBox 5"/>
          <p:cNvSpPr txBox="1"/>
          <p:nvPr/>
        </p:nvSpPr>
        <p:spPr>
          <a:xfrm>
            <a:off x="6583680" y="2560320"/>
            <a:ext cx="5029200" cy="457200"/>
          </a:xfrm>
          <a:prstGeom prst="rect">
            <a:avLst/>
          </a:prstGeom>
          <a:noFill/>
        </p:spPr>
        <p:txBody>
          <a:bodyPr wrap="none">
            <a:spAutoFit/>
          </a:bodyPr>
          <a:lstStyle/>
          <a:p>
            <a:pPr>
              <a:defRPr sz="2000" b="1">
                <a:solidFill>
                  <a:srgbClr val="1E3D59"/>
                </a:solidFill>
              </a:defRPr>
            </a:pPr>
            <a:r>
              <a:t>Identifies cross-sell opportunities you can't see otherwise</a:t>
            </a:r>
          </a:p>
        </p:txBody>
      </p:sp>
      <p:sp>
        <p:nvSpPr>
          <p:cNvPr id="7" name="TextBox 6"/>
          <p:cNvSpPr txBox="1"/>
          <p:nvPr/>
        </p:nvSpPr>
        <p:spPr>
          <a:xfrm>
            <a:off x="6583680" y="3017520"/>
            <a:ext cx="5029200" cy="274320"/>
          </a:xfrm>
          <a:prstGeom prst="rect">
            <a:avLst/>
          </a:prstGeom>
          <a:noFill/>
        </p:spPr>
        <p:txBody>
          <a:bodyPr wrap="none">
            <a:spAutoFit/>
          </a:bodyPr>
          <a:lstStyle/>
          <a:p>
            <a:pPr>
              <a:defRPr sz="1200">
                <a:solidFill>
                  <a:srgbClr val="646464"/>
                </a:solidFill>
              </a:defRPr>
            </a:pPr>
            <a:r>
              <a:t>Services outside your CU</a:t>
            </a:r>
          </a:p>
        </p:txBody>
      </p:sp>
      <p:sp>
        <p:nvSpPr>
          <p:cNvPr id="8" name="TextBox 7"/>
          <p:cNvSpPr txBox="1"/>
          <p:nvPr/>
        </p:nvSpPr>
        <p:spPr>
          <a:xfrm>
            <a:off x="6583680" y="3474720"/>
            <a:ext cx="5029200" cy="457200"/>
          </a:xfrm>
          <a:prstGeom prst="rect">
            <a:avLst/>
          </a:prstGeom>
          <a:noFill/>
        </p:spPr>
        <p:txBody>
          <a:bodyPr wrap="none">
            <a:spAutoFit/>
          </a:bodyPr>
          <a:lstStyle/>
          <a:p>
            <a:pPr>
              <a:defRPr sz="2000" b="1">
                <a:solidFill>
                  <a:srgbClr val="1E3D59"/>
                </a:solidFill>
              </a:defRPr>
            </a:pPr>
            <a:r>
              <a:t>Dollar-weighted by service bucket</a:t>
            </a:r>
          </a:p>
        </p:txBody>
      </p:sp>
      <p:sp>
        <p:nvSpPr>
          <p:cNvPr id="9" name="TextBox 8"/>
          <p:cNvSpPr txBox="1"/>
          <p:nvPr/>
        </p:nvSpPr>
        <p:spPr>
          <a:xfrm>
            <a:off x="6583680" y="3931920"/>
            <a:ext cx="5029200" cy="274320"/>
          </a:xfrm>
          <a:prstGeom prst="rect">
            <a:avLst/>
          </a:prstGeom>
          <a:noFill/>
        </p:spPr>
        <p:txBody>
          <a:bodyPr wrap="none">
            <a:spAutoFit/>
          </a:bodyPr>
          <a:lstStyle/>
          <a:p>
            <a:pPr>
              <a:defRPr sz="1200">
                <a:solidFill>
                  <a:srgbClr val="646464"/>
                </a:solidFill>
              </a:defRPr>
            </a:pPr>
            <a:r>
              <a:t>Opportunity sizing</a:t>
            </a:r>
          </a:p>
        </p:txBody>
      </p:sp>
      <p:sp>
        <p:nvSpPr>
          <p:cNvPr id="10" name="TextBox 9"/>
          <p:cNvSpPr txBox="1"/>
          <p:nvPr/>
        </p:nvSpPr>
        <p:spPr>
          <a:xfrm>
            <a:off x="6583680" y="4389120"/>
            <a:ext cx="5029200" cy="457200"/>
          </a:xfrm>
          <a:prstGeom prst="rect">
            <a:avLst/>
          </a:prstGeom>
          <a:noFill/>
        </p:spPr>
        <p:txBody>
          <a:bodyPr wrap="none">
            <a:spAutoFit/>
          </a:bodyPr>
          <a:lstStyle/>
          <a:p>
            <a:pPr>
              <a:defRPr sz="2000" b="1">
                <a:solidFill>
                  <a:srgbClr val="1E3D59"/>
                </a:solidFill>
              </a:defRPr>
            </a:pPr>
            <a:r>
              <a:t>Lending, investing, and deposit products</a:t>
            </a:r>
          </a:p>
        </p:txBody>
      </p:sp>
      <p:sp>
        <p:nvSpPr>
          <p:cNvPr id="11" name="TextBox 10"/>
          <p:cNvSpPr txBox="1"/>
          <p:nvPr/>
        </p:nvSpPr>
        <p:spPr>
          <a:xfrm>
            <a:off x="6583680" y="4846320"/>
            <a:ext cx="5029200" cy="274320"/>
          </a:xfrm>
          <a:prstGeom prst="rect">
            <a:avLst/>
          </a:prstGeom>
          <a:noFill/>
        </p:spPr>
        <p:txBody>
          <a:bodyPr wrap="none">
            <a:spAutoFit/>
          </a:bodyPr>
          <a:lstStyle/>
          <a:p>
            <a:pPr>
              <a:defRPr sz="1200">
                <a:solidFill>
                  <a:srgbClr val="646464"/>
                </a:solidFill>
              </a:defRPr>
            </a:pPr>
            <a:r>
              <a:t>Competitive positioning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premium debit card with bundled services</a:t>
            </a:r>
          </a:p>
        </p:txBody>
      </p:sp>
      <p:pic>
        <p:nvPicPr>
          <p:cNvPr id="3" name="Picture 2" descr="mrpc_revenue.png"/>
          <p:cNvPicPr>
            <a:picLocks noChangeAspect="1"/>
          </p:cNvPicPr>
          <p:nvPr/>
        </p:nvPicPr>
        <p:blipFill>
          <a:blip r:embed="rId2"/>
          <a:stretch>
            <a:fillRect/>
          </a:stretch>
        </p:blipFill>
        <p:spPr>
          <a:xfrm>
            <a:off x="457200" y="1371600"/>
            <a:ext cx="5943600" cy="4518232"/>
          </a:xfrm>
          <a:prstGeom prst="rect">
            <a:avLst/>
          </a:prstGeom>
        </p:spPr>
      </p:pic>
      <p:sp>
        <p:nvSpPr>
          <p:cNvPr id="4" name="TextBox 3"/>
          <p:cNvSpPr txBox="1"/>
          <p:nvPr/>
        </p:nvSpPr>
        <p:spPr>
          <a:xfrm>
            <a:off x="6583680" y="1645920"/>
            <a:ext cx="5029200" cy="457200"/>
          </a:xfrm>
          <a:prstGeom prst="rect">
            <a:avLst/>
          </a:prstGeom>
          <a:noFill/>
        </p:spPr>
        <p:txBody>
          <a:bodyPr wrap="none">
            <a:spAutoFit/>
          </a:bodyPr>
          <a:lstStyle/>
          <a:p>
            <a:pPr>
              <a:defRPr sz="2000" b="1">
                <a:solidFill>
                  <a:srgbClr val="1E3D59"/>
                </a:solidFill>
              </a:defRPr>
            </a:pPr>
            <a:r>
              <a:t>MRPC vs standard cardholder comparison</a:t>
            </a:r>
          </a:p>
        </p:txBody>
      </p:sp>
      <p:sp>
        <p:nvSpPr>
          <p:cNvPr id="5" name="TextBox 4"/>
          <p:cNvSpPr txBox="1"/>
          <p:nvPr/>
        </p:nvSpPr>
        <p:spPr>
          <a:xfrm>
            <a:off x="6583680" y="2103120"/>
            <a:ext cx="5029200" cy="274320"/>
          </a:xfrm>
          <a:prstGeom prst="rect">
            <a:avLst/>
          </a:prstGeom>
          <a:noFill/>
        </p:spPr>
        <p:txBody>
          <a:bodyPr wrap="none">
            <a:spAutoFit/>
          </a:bodyPr>
          <a:lstStyle/>
          <a:p>
            <a:pPr>
              <a:defRPr sz="1200">
                <a:solidFill>
                  <a:srgbClr val="646464"/>
                </a:solidFill>
              </a:defRPr>
            </a:pPr>
            <a:r>
              <a:t>Revenue per account</a:t>
            </a:r>
          </a:p>
        </p:txBody>
      </p:sp>
      <p:sp>
        <p:nvSpPr>
          <p:cNvPr id="6" name="TextBox 5"/>
          <p:cNvSpPr txBox="1"/>
          <p:nvPr/>
        </p:nvSpPr>
        <p:spPr>
          <a:xfrm>
            <a:off x="6583680" y="2560320"/>
            <a:ext cx="5029200" cy="457200"/>
          </a:xfrm>
          <a:prstGeom prst="rect">
            <a:avLst/>
          </a:prstGeom>
          <a:noFill/>
        </p:spPr>
        <p:txBody>
          <a:bodyPr wrap="none">
            <a:spAutoFit/>
          </a:bodyPr>
          <a:lstStyle/>
          <a:p>
            <a:pPr>
              <a:defRPr sz="2000" b="1">
                <a:solidFill>
                  <a:srgbClr val="1E3D59"/>
                </a:solidFill>
              </a:defRPr>
            </a:pPr>
            <a:r>
              <a:t>Recurring fee income plus higher interchange</a:t>
            </a:r>
          </a:p>
        </p:txBody>
      </p:sp>
      <p:sp>
        <p:nvSpPr>
          <p:cNvPr id="7" name="TextBox 6"/>
          <p:cNvSpPr txBox="1"/>
          <p:nvPr/>
        </p:nvSpPr>
        <p:spPr>
          <a:xfrm>
            <a:off x="6583680" y="3017520"/>
            <a:ext cx="5029200" cy="274320"/>
          </a:xfrm>
          <a:prstGeom prst="rect">
            <a:avLst/>
          </a:prstGeom>
          <a:noFill/>
        </p:spPr>
        <p:txBody>
          <a:bodyPr wrap="none">
            <a:spAutoFit/>
          </a:bodyPr>
          <a:lstStyle/>
          <a:p>
            <a:pPr>
              <a:defRPr sz="1200">
                <a:solidFill>
                  <a:srgbClr val="646464"/>
                </a:solidFill>
              </a:defRPr>
            </a:pPr>
            <a:r>
              <a:t>Monthly fee + card usage</a:t>
            </a:r>
          </a:p>
        </p:txBody>
      </p:sp>
      <p:sp>
        <p:nvSpPr>
          <p:cNvPr id="8" name="TextBox 7"/>
          <p:cNvSpPr txBox="1"/>
          <p:nvPr/>
        </p:nvSpPr>
        <p:spPr>
          <a:xfrm>
            <a:off x="6583680" y="3474720"/>
            <a:ext cx="5029200" cy="457200"/>
          </a:xfrm>
          <a:prstGeom prst="rect">
            <a:avLst/>
          </a:prstGeom>
          <a:noFill/>
        </p:spPr>
        <p:txBody>
          <a:bodyPr wrap="none">
            <a:spAutoFit/>
          </a:bodyPr>
          <a:lstStyle/>
          <a:p>
            <a:pPr>
              <a:defRPr sz="2000" b="1">
                <a:solidFill>
                  <a:srgbClr val="1E3D59"/>
                </a:solidFill>
              </a:defRPr>
            </a:pPr>
            <a:r>
              <a:t>Premium cardholders use more services</a:t>
            </a:r>
          </a:p>
        </p:txBody>
      </p:sp>
      <p:sp>
        <p:nvSpPr>
          <p:cNvPr id="9" name="TextBox 8"/>
          <p:cNvSpPr txBox="1"/>
          <p:nvPr/>
        </p:nvSpPr>
        <p:spPr>
          <a:xfrm>
            <a:off x="6583680" y="3931920"/>
            <a:ext cx="5029200" cy="274320"/>
          </a:xfrm>
          <a:prstGeom prst="rect">
            <a:avLst/>
          </a:prstGeom>
          <a:noFill/>
        </p:spPr>
        <p:txBody>
          <a:bodyPr wrap="none">
            <a:spAutoFit/>
          </a:bodyPr>
          <a:lstStyle/>
          <a:p>
            <a:pPr>
              <a:defRPr sz="1200">
                <a:solidFill>
                  <a:srgbClr val="646464"/>
                </a:solidFill>
              </a:defRPr>
            </a:pPr>
            <a:r>
              <a:t>Bundled service adoption</a:t>
            </a:r>
          </a:p>
        </p:txBody>
      </p:sp>
      <p:sp>
        <p:nvSpPr>
          <p:cNvPr id="10" name="TextBox 9"/>
          <p:cNvSpPr txBox="1"/>
          <p:nvPr/>
        </p:nvSpPr>
        <p:spPr>
          <a:xfrm>
            <a:off x="6583680" y="4389120"/>
            <a:ext cx="5029200" cy="457200"/>
          </a:xfrm>
          <a:prstGeom prst="rect">
            <a:avLst/>
          </a:prstGeom>
          <a:noFill/>
        </p:spPr>
        <p:txBody>
          <a:bodyPr wrap="none">
            <a:spAutoFit/>
          </a:bodyPr>
          <a:lstStyle/>
          <a:p>
            <a:pPr>
              <a:defRPr sz="2000" b="1">
                <a:solidFill>
                  <a:srgbClr val="1E3D59"/>
                </a:solidFill>
              </a:defRPr>
            </a:pPr>
            <a:r>
              <a:t>Expanding premium membership base</a:t>
            </a:r>
          </a:p>
        </p:txBody>
      </p:sp>
      <p:sp>
        <p:nvSpPr>
          <p:cNvPr id="11" name="TextBox 10"/>
          <p:cNvSpPr txBox="1"/>
          <p:nvPr/>
        </p:nvSpPr>
        <p:spPr>
          <a:xfrm>
            <a:off x="6583680" y="4846320"/>
            <a:ext cx="5029200" cy="274320"/>
          </a:xfrm>
          <a:prstGeom prst="rect">
            <a:avLst/>
          </a:prstGeom>
          <a:noFill/>
        </p:spPr>
        <p:txBody>
          <a:bodyPr wrap="none">
            <a:spAutoFit/>
          </a:bodyPr>
          <a:lstStyle/>
          <a:p>
            <a:pPr>
              <a:defRPr sz="1200">
                <a:solidFill>
                  <a:srgbClr val="646464"/>
                </a:solidFill>
              </a:defRPr>
            </a:pPr>
            <a:r>
              <a:t>Program growth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347472"/>
            <a:ext cx="10972800" cy="640080"/>
          </a:xfrm>
          <a:prstGeom prst="rect">
            <a:avLst/>
          </a:prstGeom>
          <a:noFill/>
        </p:spPr>
        <p:txBody>
          <a:bodyPr wrap="square">
            <a:spAutoFit/>
          </a:bodyPr>
          <a:lstStyle/>
          <a:p>
            <a:pPr>
              <a:defRPr sz="2600" b="0">
                <a:solidFill>
                  <a:srgbClr val="FFFFFF"/>
                </a:solidFill>
              </a:defRPr>
            </a:pPr>
            <a:r>
              <a:t>Complete Visibility. Every Stage. Every Metric. One Platform.</a:t>
            </a:r>
          </a:p>
        </p:txBody>
      </p:sp>
      <p:sp>
        <p:nvSpPr>
          <p:cNvPr id="4" name="TextBox 3"/>
          <p:cNvSpPr txBox="1"/>
          <p:nvPr/>
        </p:nvSpPr>
        <p:spPr>
          <a:xfrm>
            <a:off x="685800" y="2011680"/>
            <a:ext cx="2446020" cy="1097280"/>
          </a:xfrm>
          <a:prstGeom prst="rect">
            <a:avLst/>
          </a:prstGeom>
          <a:noFill/>
        </p:spPr>
        <p:txBody>
          <a:bodyPr wrap="none">
            <a:spAutoFit/>
          </a:bodyPr>
          <a:lstStyle/>
          <a:p>
            <a:pPr algn="ctr">
              <a:defRPr sz="3600" b="1">
                <a:solidFill>
                  <a:srgbClr val="27AE60"/>
                </a:solidFill>
              </a:defRPr>
            </a:pPr>
            <a:r>
              <a:t>847/mo</a:t>
            </a:r>
          </a:p>
        </p:txBody>
      </p:sp>
      <p:sp>
        <p:nvSpPr>
          <p:cNvPr id="5" name="TextBox 4"/>
          <p:cNvSpPr txBox="1"/>
          <p:nvPr/>
        </p:nvSpPr>
        <p:spPr>
          <a:xfrm>
            <a:off x="685800" y="3017520"/>
            <a:ext cx="2446020" cy="640080"/>
          </a:xfrm>
          <a:prstGeom prst="rect">
            <a:avLst/>
          </a:prstGeom>
          <a:noFill/>
        </p:spPr>
        <p:txBody>
          <a:bodyPr wrap="square">
            <a:spAutoFit/>
          </a:bodyPr>
          <a:lstStyle/>
          <a:p>
            <a:pPr algn="ctr">
              <a:defRPr sz="1400">
                <a:solidFill>
                  <a:srgbClr val="505050"/>
                </a:solidFill>
              </a:defRPr>
            </a:pPr>
            <a:r>
              <a:t>ICS</a:t>
            </a:r>
            <a:br/>
            <a:r>
              <a:t>New Accounts</a:t>
            </a:r>
          </a:p>
        </p:txBody>
      </p:sp>
      <p:sp>
        <p:nvSpPr>
          <p:cNvPr id="6" name="TextBox 5"/>
          <p:cNvSpPr txBox="1"/>
          <p:nvPr/>
        </p:nvSpPr>
        <p:spPr>
          <a:xfrm>
            <a:off x="3314700" y="2011680"/>
            <a:ext cx="2446020" cy="1097280"/>
          </a:xfrm>
          <a:prstGeom prst="rect">
            <a:avLst/>
          </a:prstGeom>
          <a:noFill/>
        </p:spPr>
        <p:txBody>
          <a:bodyPr wrap="none">
            <a:spAutoFit/>
          </a:bodyPr>
          <a:lstStyle/>
          <a:p>
            <a:pPr algn="ctr">
              <a:defRPr sz="3600" b="1">
                <a:solidFill>
                  <a:srgbClr val="F39C12"/>
                </a:solidFill>
              </a:defRPr>
            </a:pPr>
            <a:r>
              <a:t>72%</a:t>
            </a:r>
          </a:p>
        </p:txBody>
      </p:sp>
      <p:sp>
        <p:nvSpPr>
          <p:cNvPr id="7" name="TextBox 6"/>
          <p:cNvSpPr txBox="1"/>
          <p:nvPr/>
        </p:nvSpPr>
        <p:spPr>
          <a:xfrm>
            <a:off x="3314700" y="3017520"/>
            <a:ext cx="2446020" cy="640080"/>
          </a:xfrm>
          <a:prstGeom prst="rect">
            <a:avLst/>
          </a:prstGeom>
          <a:noFill/>
        </p:spPr>
        <p:txBody>
          <a:bodyPr wrap="square">
            <a:spAutoFit/>
          </a:bodyPr>
          <a:lstStyle/>
          <a:p>
            <a:pPr algn="ctr">
              <a:defRPr sz="1400">
                <a:solidFill>
                  <a:srgbClr val="505050"/>
                </a:solidFill>
              </a:defRPr>
            </a:pPr>
            <a:r>
              <a:t>Engagement</a:t>
            </a:r>
            <a:br/>
            <a:r>
              <a:t>Activated 30d</a:t>
            </a:r>
          </a:p>
        </p:txBody>
      </p:sp>
      <p:sp>
        <p:nvSpPr>
          <p:cNvPr id="8" name="TextBox 7"/>
          <p:cNvSpPr txBox="1"/>
          <p:nvPr/>
        </p:nvSpPr>
        <p:spPr>
          <a:xfrm>
            <a:off x="5943600" y="2011680"/>
            <a:ext cx="2446020" cy="1097280"/>
          </a:xfrm>
          <a:prstGeom prst="rect">
            <a:avLst/>
          </a:prstGeom>
          <a:noFill/>
        </p:spPr>
        <p:txBody>
          <a:bodyPr wrap="none">
            <a:spAutoFit/>
          </a:bodyPr>
          <a:lstStyle/>
          <a:p>
            <a:pPr algn="ctr">
              <a:defRPr sz="3600" b="1">
                <a:solidFill>
                  <a:srgbClr val="27AE60"/>
                </a:solidFill>
              </a:defRPr>
            </a:pPr>
            <a:r>
              <a:t>34.2%</a:t>
            </a:r>
          </a:p>
        </p:txBody>
      </p:sp>
      <p:sp>
        <p:nvSpPr>
          <p:cNvPr id="9" name="TextBox 8"/>
          <p:cNvSpPr txBox="1"/>
          <p:nvPr/>
        </p:nvSpPr>
        <p:spPr>
          <a:xfrm>
            <a:off x="5943600" y="3017520"/>
            <a:ext cx="2446020" cy="640080"/>
          </a:xfrm>
          <a:prstGeom prst="rect">
            <a:avLst/>
          </a:prstGeom>
          <a:noFill/>
        </p:spPr>
        <p:txBody>
          <a:bodyPr wrap="square">
            <a:spAutoFit/>
          </a:bodyPr>
          <a:lstStyle/>
          <a:p>
            <a:pPr algn="ctr">
              <a:defRPr sz="1400">
                <a:solidFill>
                  <a:srgbClr val="505050"/>
                </a:solidFill>
              </a:defRPr>
            </a:pPr>
            <a:r>
              <a:t>ARS</a:t>
            </a:r>
            <a:br/>
            <a:r>
              <a:t>Penetration</a:t>
            </a:r>
          </a:p>
        </p:txBody>
      </p:sp>
      <p:sp>
        <p:nvSpPr>
          <p:cNvPr id="10" name="TextBox 9"/>
          <p:cNvSpPr txBox="1"/>
          <p:nvPr/>
        </p:nvSpPr>
        <p:spPr>
          <a:xfrm>
            <a:off x="8572500" y="2011680"/>
            <a:ext cx="2446020" cy="1097280"/>
          </a:xfrm>
          <a:prstGeom prst="rect">
            <a:avLst/>
          </a:prstGeom>
          <a:noFill/>
        </p:spPr>
        <p:txBody>
          <a:bodyPr wrap="none">
            <a:spAutoFit/>
          </a:bodyPr>
          <a:lstStyle/>
          <a:p>
            <a:pPr algn="ctr">
              <a:defRPr sz="3600" b="1">
                <a:solidFill>
                  <a:srgbClr val="27AE60"/>
                </a:solidFill>
              </a:defRPr>
            </a:pPr>
            <a:r>
              <a:t>$18.40</a:t>
            </a:r>
          </a:p>
        </p:txBody>
      </p:sp>
      <p:sp>
        <p:nvSpPr>
          <p:cNvPr id="11" name="TextBox 10"/>
          <p:cNvSpPr txBox="1"/>
          <p:nvPr/>
        </p:nvSpPr>
        <p:spPr>
          <a:xfrm>
            <a:off x="8572500" y="3017520"/>
            <a:ext cx="2446020" cy="640080"/>
          </a:xfrm>
          <a:prstGeom prst="rect">
            <a:avLst/>
          </a:prstGeom>
          <a:noFill/>
        </p:spPr>
        <p:txBody>
          <a:bodyPr wrap="square">
            <a:spAutoFit/>
          </a:bodyPr>
          <a:lstStyle/>
          <a:p>
            <a:pPr algn="ctr">
              <a:defRPr sz="1400">
                <a:solidFill>
                  <a:srgbClr val="505050"/>
                </a:solidFill>
              </a:defRPr>
            </a:pPr>
            <a:r>
              <a:t>MRPC</a:t>
            </a:r>
            <a:br/>
            <a:r>
              <a:t>Revenue/Acct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914400" y="2743200"/>
            <a:ext cx="5486400" cy="1828800"/>
          </a:xfrm>
          <a:prstGeom prst="rect">
            <a:avLst/>
          </a:prstGeom>
          <a:noFill/>
        </p:spPr>
        <p:txBody>
          <a:bodyPr wrap="square">
            <a:spAutoFit/>
          </a:bodyPr>
          <a:lstStyle/>
          <a:p>
            <a:pPr algn="l">
              <a:defRPr sz="3400" b="1">
                <a:solidFill>
                  <a:srgbClr val="FFFFFF"/>
                </a:solidFill>
              </a:defRPr>
            </a:pPr>
            <a:r>
              <a:t>300+ Credit Unions Trust RPE</a:t>
            </a:r>
          </a:p>
          <a:p>
            <a:pPr algn="l">
              <a:defRPr sz="2000">
                <a:solidFill>
                  <a:srgbClr val="FFFFFF"/>
                </a:solidFill>
              </a:defRPr>
            </a:pPr>
            <a:r>
              <a:t>to Manage Their Debit Card Lifecycle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l"/>
            <a:r>
              <a:t>Ready to See Your Complete Debit Card Lifecycle?</a:t>
            </a:r>
          </a:p>
          <a:p>
            <a:pPr algn="l">
              <a:defRPr sz="2000">
                <a:solidFill>
                  <a:srgbClr val="FFFFFF"/>
                </a:solidFill>
              </a:defRPr>
            </a:pPr>
            <a:r>
              <a:t>Visit us at Booth #123</a:t>
            </a:r>
          </a:p>
        </p:txBody>
      </p:sp>
      <p:sp>
        <p:nvSpPr>
          <p:cNvPr id="3" name="Subtitle 2"/>
          <p:cNvSpPr>
            <a:spLocks noGrp="1"/>
          </p:cNvSpPr>
          <p:nvPr>
            <p:ph type="subTitle" idx="1"/>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2024 CSI Brand Colors">
      <a:dk1>
        <a:srgbClr val="000000"/>
      </a:dk1>
      <a:lt1>
        <a:srgbClr val="FFFFFF"/>
      </a:lt1>
      <a:dk2>
        <a:srgbClr val="00274C"/>
      </a:dk2>
      <a:lt2>
        <a:srgbClr val="E7E6E6"/>
      </a:lt2>
      <a:accent1>
        <a:srgbClr val="F15D22"/>
      </a:accent1>
      <a:accent2>
        <a:srgbClr val="EB2A2E"/>
      </a:accent2>
      <a:accent3>
        <a:srgbClr val="F8971D"/>
      </a:accent3>
      <a:accent4>
        <a:srgbClr val="B12324"/>
      </a:accent4>
      <a:accent5>
        <a:srgbClr val="546DF7"/>
      </a:accent5>
      <a:accent6>
        <a:srgbClr val="5BCCFD"/>
      </a:accent6>
      <a:hlink>
        <a:srgbClr val="F15D22"/>
      </a:hlink>
      <a:folHlink>
        <a:srgbClr val="546DF7"/>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ocumentType xmlns="8f19d6cc-6494-4616-8167-f1dfcac21974" xsi:nil="true"/>
    <Comments xmlns="8f19d6cc-6494-4616-8167-f1dfcac21974" xsi:nil="true"/>
    <Vertical xmlns="8f19d6cc-6494-4616-8167-f1dfcac21974" xsi:nil="true"/>
    <lcf76f155ced4ddcb4097134ff3c332f xmlns="8f19d6cc-6494-4616-8167-f1dfcac21974">
      <Terms xmlns="http://schemas.microsoft.com/office/infopath/2007/PartnerControls"/>
    </lcf76f155ced4ddcb4097134ff3c332f>
    <TaxCatchAll xmlns="d0cd46e7-77f4-422c-81f5-f6ec011b6e79" xsi:nil="true"/>
    <LOB xmlns="8f19d6cc-6494-4616-8167-f1dfcac21974">All</LOB>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45A32F96DB25E4AB76F4C8D3C46A65D" ma:contentTypeVersion="41" ma:contentTypeDescription="Create a new document." ma:contentTypeScope="" ma:versionID="d62dd5d70889e22cd72b93ed2de4c522">
  <xsd:schema xmlns:xsd="http://www.w3.org/2001/XMLSchema" xmlns:xs="http://www.w3.org/2001/XMLSchema" xmlns:p="http://schemas.microsoft.com/office/2006/metadata/properties" xmlns:ns2="8f19d6cc-6494-4616-8167-f1dfcac21974" xmlns:ns3="d0cd46e7-77f4-422c-81f5-f6ec011b6e79" xmlns:ns4="98180f0f-5ea0-4595-8a0b-06fcb685faaa" targetNamespace="http://schemas.microsoft.com/office/2006/metadata/properties" ma:root="true" ma:fieldsID="fc649ffeb0cbb6ece1b2940e5e25b875" ns2:_="" ns3:_="" ns4:_="">
    <xsd:import namespace="8f19d6cc-6494-4616-8167-f1dfcac21974"/>
    <xsd:import namespace="d0cd46e7-77f4-422c-81f5-f6ec011b6e79"/>
    <xsd:import namespace="98180f0f-5ea0-4595-8a0b-06fcb685faaa"/>
    <xsd:element name="properties">
      <xsd:complexType>
        <xsd:sequence>
          <xsd:element name="documentManagement">
            <xsd:complexType>
              <xsd:all>
                <xsd:element ref="ns2:LOB" minOccurs="0"/>
                <xsd:element ref="ns2:Comments" minOccurs="0"/>
                <xsd:element ref="ns2:DocumentType" minOccurs="0"/>
                <xsd:element ref="ns3:TaxCatchAll" minOccurs="0"/>
                <xsd:element ref="ns2:MediaServiceMetadata" minOccurs="0"/>
                <xsd:element ref="ns2:MediaServiceFastMetadata" minOccurs="0"/>
                <xsd:element ref="ns2:MediaServiceAutoKeyPoints" minOccurs="0"/>
                <xsd:element ref="ns2:MediaServiceKeyPoints" minOccurs="0"/>
                <xsd:element ref="ns4:SharedWithUsers" minOccurs="0"/>
                <xsd:element ref="ns4:SharedWithDetails" minOccurs="0"/>
                <xsd:element ref="ns2:MediaServiceObjectDetectorVersions" minOccurs="0"/>
                <xsd:element ref="ns2:Vertical"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19d6cc-6494-4616-8167-f1dfcac21974" elementFormDefault="qualified">
    <xsd:import namespace="http://schemas.microsoft.com/office/2006/documentManagement/types"/>
    <xsd:import namespace="http://schemas.microsoft.com/office/infopath/2007/PartnerControls"/>
    <xsd:element name="LOB" ma:index="4" nillable="true" ma:displayName="LOB" ma:default="All" ma:format="Dropdown" ma:internalName="LOB">
      <xsd:simpleType>
        <xsd:restriction base="dms:Text">
          <xsd:maxLength value="255"/>
        </xsd:restriction>
      </xsd:simpleType>
    </xsd:element>
    <xsd:element name="Comments" ma:index="5" nillable="true" ma:displayName="Comments" ma:description="Document Instructions" ma:internalName="Comments" ma:readOnly="false">
      <xsd:simpleType>
        <xsd:restriction base="dms:Text">
          <xsd:maxLength value="255"/>
        </xsd:restriction>
      </xsd:simpleType>
    </xsd:element>
    <xsd:element name="DocumentType" ma:index="6" nillable="true" ma:displayName="Document Type" ma:default="DOC" ma:format="Dropdown" ma:internalName="DocumentType">
      <xsd:simpleType>
        <xsd:restriction base="dms:Text">
          <xsd:maxLength value="255"/>
        </xsd:restriction>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Vertical" ma:index="19" nillable="true" ma:displayName="Vertical" ma:format="Dropdown" ma:internalName="Vertical">
      <xsd:simpleType>
        <xsd:restriction base="dms:Text">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e5921550-0fd2-4fda-9ad2-3459d78c45ae" ma:termSetId="09814cd3-568e-fe90-9814-8d621ff8fb84" ma:anchorId="fba54fb3-c3e1-fe81-a776-ca4b69148c4d" ma:open="true" ma:isKeyword="false">
      <xsd:complexType>
        <xsd:sequence>
          <xsd:element ref="pc:Terms" minOccurs="0" maxOccurs="1"/>
        </xsd:sequence>
      </xsd:complexType>
    </xsd:element>
    <xsd:element name="MediaServiceOCR" ma:index="2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0cd46e7-77f4-422c-81f5-f6ec011b6e79" elementFormDefault="qualified">
    <xsd:import namespace="http://schemas.microsoft.com/office/2006/documentManagement/types"/>
    <xsd:import namespace="http://schemas.microsoft.com/office/infopath/2007/PartnerControls"/>
    <xsd:element name="TaxCatchAll" ma:index="7" nillable="true" ma:displayName="Taxonomy Catch All Column" ma:hidden="true" ma:list="{9dd67a5b-1470-4c7b-94c8-99dcc2d63287}" ma:internalName="TaxCatchAll" ma:showField="CatchAllData" ma:web="98180f0f-5ea0-4595-8a0b-06fcb685faa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8180f0f-5ea0-4595-8a0b-06fcb685faaa"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4D1754-E1EB-4F78-9D58-4711595F26EC}">
  <ds:schemaRefs>
    <ds:schemaRef ds:uri="http://schemas.microsoft.com/office/2006/documentManagement/types"/>
    <ds:schemaRef ds:uri="http://schemas.openxmlformats.org/package/2006/metadata/core-properties"/>
    <ds:schemaRef ds:uri="http://www.w3.org/XML/1998/namespace"/>
    <ds:schemaRef ds:uri="8f19d6cc-6494-4616-8167-f1dfcac21974"/>
    <ds:schemaRef ds:uri="98180f0f-5ea0-4595-8a0b-06fcb685faaa"/>
    <ds:schemaRef ds:uri="d0cd46e7-77f4-422c-81f5-f6ec011b6e79"/>
    <ds:schemaRef ds:uri="http://schemas.microsoft.com/office/2006/metadata/properties"/>
    <ds:schemaRef ds:uri="http://purl.org/dc/terms/"/>
    <ds:schemaRef ds:uri="http://schemas.microsoft.com/office/infopath/2007/PartnerControls"/>
    <ds:schemaRef ds:uri="http://purl.org/dc/dcmitype/"/>
    <ds:schemaRef ds:uri="http://purl.org/dc/elements/1.1/"/>
  </ds:schemaRefs>
</ds:datastoreItem>
</file>

<file path=customXml/itemProps2.xml><?xml version="1.0" encoding="utf-8"?>
<ds:datastoreItem xmlns:ds="http://schemas.openxmlformats.org/officeDocument/2006/customXml" ds:itemID="{244A8D52-CAC9-469F-B1B1-8A41D03057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19d6cc-6494-4616-8167-f1dfcac21974"/>
    <ds:schemaRef ds:uri="d0cd46e7-77f4-422c-81f5-f6ec011b6e79"/>
    <ds:schemaRef ds:uri="98180f0f-5ea0-4595-8a0b-06fcb685faa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4C4685E-11DE-47BE-B63C-CA6899C5472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11</TotalTime>
  <Words>446</Words>
  <Application>Microsoft Office PowerPoint</Application>
  <PresentationFormat>Widescreen</PresentationFormat>
  <Paragraphs>103</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Montserrat</vt:lpstr>
      <vt:lpstr>Montserrat ExtraBold</vt:lpstr>
      <vt:lpstr>Montserrat SemiBold</vt:lpstr>
      <vt:lpstr>Office Theme</vt:lpstr>
      <vt:lpstr>PowerPoint Presentation</vt:lpstr>
      <vt:lpstr>Presentation Summary</vt:lpstr>
      <vt:lpstr>Section Title Slide</vt:lpstr>
      <vt:lpstr>Using a Photo with Bulleted List</vt:lpstr>
      <vt:lpstr>Using Two Photos  with Bulleted List</vt:lpstr>
      <vt:lpstr>Using Three Photos with Bulleted Lists</vt:lpstr>
      <vt:lpstr>Color Bar Content</vt:lpstr>
      <vt:lpstr>Gray Blank Slide for Mixing It Up</vt:lpstr>
      <vt:lpstr>Slide for Stats</vt:lpstr>
      <vt:lpstr>Making a List With Icons</vt:lpstr>
      <vt:lpstr>PowerPoint Presentation</vt:lpstr>
      <vt:lpstr>Our Mission</vt:lpstr>
      <vt:lpstr>Our Values</vt:lpstr>
      <vt:lpstr>CSI: A National Player</vt:lpstr>
      <vt:lpstr>Additional Resources</vt:lpstr>
      <vt:lpstr>Additional Resources</vt:lpstr>
      <vt:lpstr>Additional Resources</vt:lpstr>
      <vt:lpstr>Questions &amp; 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Richard Gonzales</dc:creator>
  <cp:lastModifiedBy>James L. Gilmore</cp:lastModifiedBy>
  <cp:revision>3</cp:revision>
  <dcterms:created xsi:type="dcterms:W3CDTF">2023-10-06T12:54:44Z</dcterms:created>
  <dcterms:modified xsi:type="dcterms:W3CDTF">2026-03-01T23:43:37Z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3c83cb5f6d34af6b8b6ae552f76d692">
    <vt:lpwstr/>
  </property>
  <property fmtid="{D5CDD505-2E9C-101B-9397-08002B2CF9AE}" pid="3" name="MediaServiceImageTags">
    <vt:lpwstr/>
  </property>
  <property fmtid="{D5CDD505-2E9C-101B-9397-08002B2CF9AE}" pid="4" name="ContentTypeId">
    <vt:lpwstr>0x010100C45A32F96DB25E4AB76F4C8D3C46A65D</vt:lpwstr>
  </property>
  <property fmtid="{D5CDD505-2E9C-101B-9397-08002B2CF9AE}" pid="5" name="Tags">
    <vt:lpwstr/>
  </property>
</Properties>
</file>